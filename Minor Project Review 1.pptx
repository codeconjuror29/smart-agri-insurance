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Bricolage Grotesque Bold" charset="1" panose="020B0605040402000204"/>
      <p:regular r:id="rId28"/>
    </p:embeddedFont>
    <p:embeddedFont>
      <p:font typeface="Canva Sans" charset="1" panose="020B0503030501040103"/>
      <p:regular r:id="rId29"/>
    </p:embeddedFont>
    <p:embeddedFont>
      <p:font typeface="Canva Sans Bold" charset="1" panose="020B08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frontiersin.org/articles/10.3389/fbloc.2024.1481339/full?utm_source=chatgpt.com"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mdpi.com/2071-1050/13/16/8921?utm_source=chatgpt.com"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ciencedirect.com/science/article/abs/pii/S0168169922008523?utm_source=chatgpt.com"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sciencedirect.com/science/article/abs/pii/S0168169922008523?utm_source=chatgpt.com"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https://dl.acm.org/doi/10.1145/3457337.3457837?utm_source=chatgpt.com"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ijirset.com/upload/2025/may/174_Smart.pdf"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6188422" y="1058879"/>
            <a:ext cx="5911155" cy="1220363"/>
          </a:xfrm>
          <a:prstGeom prst="rect">
            <a:avLst/>
          </a:prstGeom>
        </p:spPr>
        <p:txBody>
          <a:bodyPr anchor="t" rtlCol="false" tIns="0" lIns="0" bIns="0" rIns="0">
            <a:spAutoFit/>
          </a:bodyPr>
          <a:lstStyle/>
          <a:p>
            <a:pPr algn="ctr">
              <a:lnSpc>
                <a:spcPts val="9910"/>
              </a:lnSpc>
              <a:spcBef>
                <a:spcPct val="0"/>
              </a:spcBef>
            </a:pPr>
            <a:r>
              <a:rPr lang="en-US" b="true" sz="7079">
                <a:solidFill>
                  <a:srgbClr val="20562E"/>
                </a:solidFill>
                <a:latin typeface="Bricolage Grotesque Bold"/>
                <a:ea typeface="Bricolage Grotesque Bold"/>
                <a:cs typeface="Bricolage Grotesque Bold"/>
                <a:sym typeface="Bricolage Grotesque Bold"/>
              </a:rPr>
              <a:t>Minor Project</a:t>
            </a:r>
          </a:p>
        </p:txBody>
      </p:sp>
      <p:sp>
        <p:nvSpPr>
          <p:cNvPr name="TextBox 3" id="3"/>
          <p:cNvSpPr txBox="true"/>
          <p:nvPr/>
        </p:nvSpPr>
        <p:spPr>
          <a:xfrm rot="0">
            <a:off x="7679541" y="6807247"/>
            <a:ext cx="2928918" cy="518214"/>
          </a:xfrm>
          <a:prstGeom prst="rect">
            <a:avLst/>
          </a:prstGeom>
        </p:spPr>
        <p:txBody>
          <a:bodyPr anchor="t" rtlCol="false" tIns="0" lIns="0" bIns="0" rIns="0">
            <a:spAutoFit/>
          </a:bodyPr>
          <a:lstStyle/>
          <a:p>
            <a:pPr algn="ctr">
              <a:lnSpc>
                <a:spcPts val="4235"/>
              </a:lnSpc>
              <a:spcBef>
                <a:spcPct val="0"/>
              </a:spcBef>
            </a:pPr>
            <a:r>
              <a:rPr lang="en-US" sz="3025">
                <a:solidFill>
                  <a:srgbClr val="20562E"/>
                </a:solidFill>
                <a:latin typeface="Canva Sans"/>
                <a:ea typeface="Canva Sans"/>
                <a:cs typeface="Canva Sans"/>
                <a:sym typeface="Canva Sans"/>
              </a:rPr>
              <a:t>Presentation</a:t>
            </a:r>
            <a:r>
              <a:rPr lang="en-US" sz="3025">
                <a:solidFill>
                  <a:srgbClr val="20562E"/>
                </a:solidFill>
                <a:latin typeface="Canva Sans"/>
                <a:ea typeface="Canva Sans"/>
                <a:cs typeface="Canva Sans"/>
                <a:sym typeface="Canva Sans"/>
              </a:rPr>
              <a:t> by</a:t>
            </a:r>
          </a:p>
        </p:txBody>
      </p:sp>
      <p:sp>
        <p:nvSpPr>
          <p:cNvPr name="TextBox 4" id="4"/>
          <p:cNvSpPr txBox="true"/>
          <p:nvPr/>
        </p:nvSpPr>
        <p:spPr>
          <a:xfrm rot="0">
            <a:off x="4531883" y="7658836"/>
            <a:ext cx="9224234" cy="1095826"/>
          </a:xfrm>
          <a:prstGeom prst="rect">
            <a:avLst/>
          </a:prstGeom>
        </p:spPr>
        <p:txBody>
          <a:bodyPr anchor="t" rtlCol="false" tIns="0" lIns="0" bIns="0" rIns="0">
            <a:spAutoFit/>
          </a:bodyPr>
          <a:lstStyle/>
          <a:p>
            <a:pPr algn="ctr">
              <a:lnSpc>
                <a:spcPts val="4358"/>
              </a:lnSpc>
            </a:pPr>
            <a:r>
              <a:rPr lang="en-US" b="true" sz="3572">
                <a:solidFill>
                  <a:srgbClr val="20562E"/>
                </a:solidFill>
                <a:latin typeface="Canva Sans Bold"/>
                <a:ea typeface="Canva Sans Bold"/>
                <a:cs typeface="Canva Sans Bold"/>
                <a:sym typeface="Canva Sans Bold"/>
              </a:rPr>
              <a:t>PRIYANKA SEN [RA2311050010056]</a:t>
            </a:r>
          </a:p>
          <a:p>
            <a:pPr algn="ctr">
              <a:lnSpc>
                <a:spcPts val="4358"/>
              </a:lnSpc>
            </a:pPr>
            <a:r>
              <a:rPr lang="en-US" b="true" sz="3572">
                <a:solidFill>
                  <a:srgbClr val="20562E"/>
                </a:solidFill>
                <a:latin typeface="Canva Sans Bold"/>
                <a:ea typeface="Canva Sans Bold"/>
                <a:cs typeface="Canva Sans Bold"/>
                <a:sym typeface="Canva Sans Bold"/>
              </a:rPr>
              <a:t>HARSHITA JAISWAL [RA2311050010053]</a:t>
            </a:r>
          </a:p>
        </p:txBody>
      </p:sp>
      <p:sp>
        <p:nvSpPr>
          <p:cNvPr name="TextBox 5" id="5"/>
          <p:cNvSpPr txBox="true"/>
          <p:nvPr/>
        </p:nvSpPr>
        <p:spPr>
          <a:xfrm rot="0">
            <a:off x="3169096" y="3130859"/>
            <a:ext cx="11949808" cy="2565991"/>
          </a:xfrm>
          <a:prstGeom prst="rect">
            <a:avLst/>
          </a:prstGeom>
        </p:spPr>
        <p:txBody>
          <a:bodyPr anchor="t" rtlCol="false" tIns="0" lIns="0" bIns="0" rIns="0">
            <a:spAutoFit/>
          </a:bodyPr>
          <a:lstStyle/>
          <a:p>
            <a:pPr algn="ctr">
              <a:lnSpc>
                <a:spcPts val="10292"/>
              </a:lnSpc>
              <a:spcBef>
                <a:spcPct val="0"/>
              </a:spcBef>
            </a:pPr>
            <a:r>
              <a:rPr lang="en-US" b="true" sz="7351">
                <a:solidFill>
                  <a:srgbClr val="20562E"/>
                </a:solidFill>
                <a:latin typeface="Bricolage Grotesque Bold"/>
                <a:ea typeface="Bricolage Grotesque Bold"/>
                <a:cs typeface="Bricolage Grotesque Bold"/>
                <a:sym typeface="Bricolage Grotesque Bold"/>
              </a:rPr>
              <a:t>SMART CONTRACT </a:t>
            </a:r>
            <a:r>
              <a:rPr lang="en-US" b="true" sz="7351">
                <a:solidFill>
                  <a:srgbClr val="20562E"/>
                </a:solidFill>
                <a:latin typeface="Bricolage Grotesque Bold"/>
                <a:ea typeface="Bricolage Grotesque Bold"/>
                <a:cs typeface="Bricolage Grotesque Bold"/>
                <a:sym typeface="Bricolage Grotesque Bold"/>
              </a:rPr>
              <a:t>BASED </a:t>
            </a:r>
          </a:p>
          <a:p>
            <a:pPr algn="ctr">
              <a:lnSpc>
                <a:spcPts val="10292"/>
              </a:lnSpc>
              <a:spcBef>
                <a:spcPct val="0"/>
              </a:spcBef>
            </a:pPr>
            <a:r>
              <a:rPr lang="en-US" b="true" sz="7351">
                <a:solidFill>
                  <a:srgbClr val="20562E"/>
                </a:solidFill>
                <a:latin typeface="Bricolage Grotesque Bold"/>
                <a:ea typeface="Bricolage Grotesque Bold"/>
                <a:cs typeface="Bricolage Grotesque Bold"/>
                <a:sym typeface="Bricolage Grotesque Bold"/>
              </a:rPr>
              <a:t>AGRI-INSURANCE SYSTEM</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028700" y="1751636"/>
            <a:ext cx="11526227" cy="1851414"/>
          </a:xfrm>
          <a:prstGeom prst="rect">
            <a:avLst/>
          </a:prstGeom>
        </p:spPr>
        <p:txBody>
          <a:bodyPr anchor="t" rtlCol="false" tIns="0" lIns="0" bIns="0" rIns="0">
            <a:spAutoFit/>
          </a:bodyPr>
          <a:lstStyle/>
          <a:p>
            <a:pPr algn="l">
              <a:lnSpc>
                <a:spcPts val="15028"/>
              </a:lnSpc>
              <a:spcBef>
                <a:spcPct val="0"/>
              </a:spcBef>
            </a:pPr>
            <a:r>
              <a:rPr lang="en-US" sz="10734" b="true">
                <a:solidFill>
                  <a:srgbClr val="20562E"/>
                </a:solidFill>
                <a:latin typeface="Bricolage Grotesque Bold"/>
                <a:ea typeface="Bricolage Grotesque Bold"/>
                <a:cs typeface="Bricolage Grotesque Bold"/>
                <a:sym typeface="Bricolage Grotesque Bold"/>
              </a:rPr>
              <a:t>SDG </a:t>
            </a:r>
            <a:r>
              <a:rPr lang="en-US" b="true" sz="10734">
                <a:solidFill>
                  <a:srgbClr val="20562E"/>
                </a:solidFill>
                <a:latin typeface="Bricolage Grotesque Bold"/>
                <a:ea typeface="Bricolage Grotesque Bold"/>
                <a:cs typeface="Bricolage Grotesque Bold"/>
                <a:sym typeface="Bricolage Grotesque Bold"/>
              </a:rPr>
              <a:t>Alignment</a:t>
            </a:r>
          </a:p>
        </p:txBody>
      </p:sp>
      <p:sp>
        <p:nvSpPr>
          <p:cNvPr name="TextBox 3" id="3"/>
          <p:cNvSpPr txBox="true"/>
          <p:nvPr/>
        </p:nvSpPr>
        <p:spPr>
          <a:xfrm rot="0">
            <a:off x="1028700" y="4140487"/>
            <a:ext cx="11990117" cy="2508250"/>
          </a:xfrm>
          <a:prstGeom prst="rect">
            <a:avLst/>
          </a:prstGeom>
        </p:spPr>
        <p:txBody>
          <a:bodyPr anchor="t" rtlCol="false" tIns="0" lIns="0" bIns="0" rIns="0">
            <a:spAutoFit/>
          </a:bodyPr>
          <a:lstStyle/>
          <a:p>
            <a:pPr algn="just">
              <a:lnSpc>
                <a:spcPts val="4999"/>
              </a:lnSpc>
            </a:pPr>
            <a:r>
              <a:rPr lang="en-US" b="true" sz="3999">
                <a:solidFill>
                  <a:srgbClr val="20562E"/>
                </a:solidFill>
                <a:latin typeface="Canva Sans Bold"/>
                <a:ea typeface="Canva Sans Bold"/>
                <a:cs typeface="Canva Sans Bold"/>
                <a:sym typeface="Canva Sans Bold"/>
              </a:rPr>
              <a:t>SDG Number: 1</a:t>
            </a:r>
          </a:p>
          <a:p>
            <a:pPr algn="just">
              <a:lnSpc>
                <a:spcPts val="4999"/>
              </a:lnSpc>
            </a:pPr>
          </a:p>
          <a:p>
            <a:pPr algn="just">
              <a:lnSpc>
                <a:spcPts val="4999"/>
              </a:lnSpc>
            </a:pPr>
            <a:r>
              <a:rPr lang="en-US" b="true" sz="3999">
                <a:solidFill>
                  <a:srgbClr val="20562E"/>
                </a:solidFill>
                <a:latin typeface="Canva Sans Bold"/>
                <a:ea typeface="Canva Sans Bold"/>
                <a:cs typeface="Canva Sans Bold"/>
                <a:sym typeface="Canva Sans Bold"/>
              </a:rPr>
              <a:t>SDG Name: No Poverty</a:t>
            </a:r>
          </a:p>
          <a:p>
            <a:pPr algn="just">
              <a:lnSpc>
                <a:spcPts val="4999"/>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028700" y="809625"/>
            <a:ext cx="6723283" cy="1851414"/>
          </a:xfrm>
          <a:prstGeom prst="rect">
            <a:avLst/>
          </a:prstGeom>
        </p:spPr>
        <p:txBody>
          <a:bodyPr anchor="t" rtlCol="false" tIns="0" lIns="0" bIns="0" rIns="0">
            <a:spAutoFit/>
          </a:bodyPr>
          <a:lstStyle/>
          <a:p>
            <a:pPr algn="r">
              <a:lnSpc>
                <a:spcPts val="15028"/>
              </a:lnSpc>
              <a:spcBef>
                <a:spcPct val="0"/>
              </a:spcBef>
            </a:pPr>
            <a:r>
              <a:rPr lang="en-US" b="true" sz="10734">
                <a:solidFill>
                  <a:srgbClr val="20562E"/>
                </a:solidFill>
                <a:latin typeface="Bricolage Grotesque Bold"/>
                <a:ea typeface="Bricolage Grotesque Bold"/>
                <a:cs typeface="Bricolage Grotesque Bold"/>
                <a:sym typeface="Bricolage Grotesque Bold"/>
              </a:rPr>
              <a:t>Ove</a:t>
            </a:r>
            <a:r>
              <a:rPr lang="en-US" b="true" sz="10734">
                <a:solidFill>
                  <a:srgbClr val="20562E"/>
                </a:solidFill>
                <a:latin typeface="Bricolage Grotesque Bold"/>
                <a:ea typeface="Bricolage Grotesque Bold"/>
                <a:cs typeface="Bricolage Grotesque Bold"/>
                <a:sym typeface="Bricolage Grotesque Bold"/>
              </a:rPr>
              <a:t>rview</a:t>
            </a:r>
          </a:p>
        </p:txBody>
      </p:sp>
      <p:grpSp>
        <p:nvGrpSpPr>
          <p:cNvPr name="Group 3" id="3"/>
          <p:cNvGrpSpPr/>
          <p:nvPr/>
        </p:nvGrpSpPr>
        <p:grpSpPr>
          <a:xfrm rot="0">
            <a:off x="1028700" y="3276464"/>
            <a:ext cx="537748" cy="504925"/>
            <a:chOff x="0" y="0"/>
            <a:chExt cx="743906" cy="698500"/>
          </a:xfrm>
        </p:grpSpPr>
        <p:sp>
          <p:nvSpPr>
            <p:cNvPr name="Freeform 4" id="4"/>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5" id="5"/>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grpSp>
        <p:nvGrpSpPr>
          <p:cNvPr name="Group 6" id="6"/>
          <p:cNvGrpSpPr/>
          <p:nvPr/>
        </p:nvGrpSpPr>
        <p:grpSpPr>
          <a:xfrm rot="0">
            <a:off x="6320633" y="3276464"/>
            <a:ext cx="537748" cy="504925"/>
            <a:chOff x="0" y="0"/>
            <a:chExt cx="743906" cy="698500"/>
          </a:xfrm>
        </p:grpSpPr>
        <p:sp>
          <p:nvSpPr>
            <p:cNvPr name="Freeform 7" id="7"/>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8" id="8"/>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9" id="9"/>
          <p:cNvSpPr txBox="true"/>
          <p:nvPr/>
        </p:nvSpPr>
        <p:spPr>
          <a:xfrm rot="0">
            <a:off x="1787801" y="3307653"/>
            <a:ext cx="2887046" cy="404448"/>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Intr</a:t>
            </a:r>
            <a:r>
              <a:rPr lang="en-US" b="true" sz="2451">
                <a:solidFill>
                  <a:srgbClr val="20562E"/>
                </a:solidFill>
                <a:latin typeface="Canva Sans Bold"/>
                <a:ea typeface="Canva Sans Bold"/>
                <a:cs typeface="Canva Sans Bold"/>
                <a:sym typeface="Canva Sans Bold"/>
              </a:rPr>
              <a:t>oduction</a:t>
            </a:r>
          </a:p>
        </p:txBody>
      </p:sp>
      <p:sp>
        <p:nvSpPr>
          <p:cNvPr name="TextBox 10" id="10"/>
          <p:cNvSpPr txBox="true"/>
          <p:nvPr/>
        </p:nvSpPr>
        <p:spPr>
          <a:xfrm rot="0">
            <a:off x="7079734" y="3307653"/>
            <a:ext cx="3455956" cy="404448"/>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Problem Statement</a:t>
            </a:r>
          </a:p>
        </p:txBody>
      </p:sp>
      <p:grpSp>
        <p:nvGrpSpPr>
          <p:cNvPr name="Group 11" id="11"/>
          <p:cNvGrpSpPr/>
          <p:nvPr/>
        </p:nvGrpSpPr>
        <p:grpSpPr>
          <a:xfrm rot="0">
            <a:off x="11612566" y="3276464"/>
            <a:ext cx="537748" cy="504925"/>
            <a:chOff x="0" y="0"/>
            <a:chExt cx="743906" cy="698500"/>
          </a:xfrm>
        </p:grpSpPr>
        <p:sp>
          <p:nvSpPr>
            <p:cNvPr name="Freeform 12" id="12"/>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13" id="13"/>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14" id="14"/>
          <p:cNvSpPr txBox="true"/>
          <p:nvPr/>
        </p:nvSpPr>
        <p:spPr>
          <a:xfrm rot="0">
            <a:off x="12371667" y="3307653"/>
            <a:ext cx="2887046" cy="404448"/>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Need for project</a:t>
            </a:r>
          </a:p>
        </p:txBody>
      </p:sp>
      <p:grpSp>
        <p:nvGrpSpPr>
          <p:cNvPr name="Group 15" id="15"/>
          <p:cNvGrpSpPr/>
          <p:nvPr/>
        </p:nvGrpSpPr>
        <p:grpSpPr>
          <a:xfrm rot="0">
            <a:off x="1028700" y="4686264"/>
            <a:ext cx="537748" cy="504925"/>
            <a:chOff x="0" y="0"/>
            <a:chExt cx="743906" cy="698500"/>
          </a:xfrm>
        </p:grpSpPr>
        <p:sp>
          <p:nvSpPr>
            <p:cNvPr name="Freeform 16" id="16"/>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17" id="17"/>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grpSp>
        <p:nvGrpSpPr>
          <p:cNvPr name="Group 18" id="18"/>
          <p:cNvGrpSpPr/>
          <p:nvPr/>
        </p:nvGrpSpPr>
        <p:grpSpPr>
          <a:xfrm rot="0">
            <a:off x="6320633" y="4686264"/>
            <a:ext cx="537748" cy="504925"/>
            <a:chOff x="0" y="0"/>
            <a:chExt cx="743906" cy="698500"/>
          </a:xfrm>
        </p:grpSpPr>
        <p:sp>
          <p:nvSpPr>
            <p:cNvPr name="Freeform 19" id="19"/>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20" id="20"/>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21" id="21"/>
          <p:cNvSpPr txBox="true"/>
          <p:nvPr/>
        </p:nvSpPr>
        <p:spPr>
          <a:xfrm rot="0">
            <a:off x="1787801" y="4717453"/>
            <a:ext cx="2887046" cy="404448"/>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Objectives</a:t>
            </a:r>
          </a:p>
        </p:txBody>
      </p:sp>
      <p:sp>
        <p:nvSpPr>
          <p:cNvPr name="TextBox 22" id="22"/>
          <p:cNvSpPr txBox="true"/>
          <p:nvPr/>
        </p:nvSpPr>
        <p:spPr>
          <a:xfrm rot="0">
            <a:off x="7079734" y="4717453"/>
            <a:ext cx="4532832" cy="404448"/>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Abstract</a:t>
            </a:r>
          </a:p>
        </p:txBody>
      </p:sp>
      <p:grpSp>
        <p:nvGrpSpPr>
          <p:cNvPr name="Group 23" id="23"/>
          <p:cNvGrpSpPr/>
          <p:nvPr/>
        </p:nvGrpSpPr>
        <p:grpSpPr>
          <a:xfrm rot="0">
            <a:off x="11612566" y="4686264"/>
            <a:ext cx="537748" cy="504925"/>
            <a:chOff x="0" y="0"/>
            <a:chExt cx="743906" cy="698500"/>
          </a:xfrm>
        </p:grpSpPr>
        <p:sp>
          <p:nvSpPr>
            <p:cNvPr name="Freeform 24" id="24"/>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25" id="25"/>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26" id="26"/>
          <p:cNvSpPr txBox="true"/>
          <p:nvPr/>
        </p:nvSpPr>
        <p:spPr>
          <a:xfrm rot="0">
            <a:off x="12371667" y="4717453"/>
            <a:ext cx="3545784" cy="833073"/>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Proposed solution overview</a:t>
            </a:r>
          </a:p>
        </p:txBody>
      </p:sp>
      <p:grpSp>
        <p:nvGrpSpPr>
          <p:cNvPr name="Group 27" id="27"/>
          <p:cNvGrpSpPr/>
          <p:nvPr/>
        </p:nvGrpSpPr>
        <p:grpSpPr>
          <a:xfrm rot="0">
            <a:off x="6320633" y="6053882"/>
            <a:ext cx="537748" cy="504925"/>
            <a:chOff x="0" y="0"/>
            <a:chExt cx="743906" cy="698500"/>
          </a:xfrm>
        </p:grpSpPr>
        <p:sp>
          <p:nvSpPr>
            <p:cNvPr name="Freeform 28" id="28"/>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29" id="29"/>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30" id="30"/>
          <p:cNvSpPr txBox="true"/>
          <p:nvPr/>
        </p:nvSpPr>
        <p:spPr>
          <a:xfrm rot="0">
            <a:off x="7079734" y="6085070"/>
            <a:ext cx="3096644" cy="404448"/>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Technology stack</a:t>
            </a:r>
          </a:p>
        </p:txBody>
      </p:sp>
      <p:grpSp>
        <p:nvGrpSpPr>
          <p:cNvPr name="Group 31" id="31"/>
          <p:cNvGrpSpPr/>
          <p:nvPr/>
        </p:nvGrpSpPr>
        <p:grpSpPr>
          <a:xfrm rot="0">
            <a:off x="11612566" y="6053882"/>
            <a:ext cx="537748" cy="504925"/>
            <a:chOff x="0" y="0"/>
            <a:chExt cx="743906" cy="698500"/>
          </a:xfrm>
        </p:grpSpPr>
        <p:sp>
          <p:nvSpPr>
            <p:cNvPr name="Freeform 32" id="32"/>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33" id="33"/>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34" id="34"/>
          <p:cNvSpPr txBox="true"/>
          <p:nvPr/>
        </p:nvSpPr>
        <p:spPr>
          <a:xfrm rot="0">
            <a:off x="12371667" y="6085070"/>
            <a:ext cx="3455956" cy="404448"/>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Module description</a:t>
            </a:r>
          </a:p>
        </p:txBody>
      </p:sp>
      <p:grpSp>
        <p:nvGrpSpPr>
          <p:cNvPr name="Group 35" id="35"/>
          <p:cNvGrpSpPr/>
          <p:nvPr/>
        </p:nvGrpSpPr>
        <p:grpSpPr>
          <a:xfrm rot="0">
            <a:off x="1028700" y="7280093"/>
            <a:ext cx="537748" cy="504925"/>
            <a:chOff x="0" y="0"/>
            <a:chExt cx="743906" cy="698500"/>
          </a:xfrm>
        </p:grpSpPr>
        <p:sp>
          <p:nvSpPr>
            <p:cNvPr name="Freeform 36" id="36"/>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37" id="37"/>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38" id="38"/>
          <p:cNvSpPr txBox="true"/>
          <p:nvPr/>
        </p:nvSpPr>
        <p:spPr>
          <a:xfrm rot="0">
            <a:off x="1787801" y="7311282"/>
            <a:ext cx="3264721" cy="833073"/>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Team Roles and Timeline</a:t>
            </a:r>
          </a:p>
        </p:txBody>
      </p:sp>
      <p:grpSp>
        <p:nvGrpSpPr>
          <p:cNvPr name="Group 39" id="39"/>
          <p:cNvGrpSpPr/>
          <p:nvPr/>
        </p:nvGrpSpPr>
        <p:grpSpPr>
          <a:xfrm rot="0">
            <a:off x="1028700" y="5984593"/>
            <a:ext cx="537748" cy="504925"/>
            <a:chOff x="0" y="0"/>
            <a:chExt cx="743906" cy="698500"/>
          </a:xfrm>
        </p:grpSpPr>
        <p:sp>
          <p:nvSpPr>
            <p:cNvPr name="Freeform 40" id="40"/>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41" id="41"/>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42" id="42"/>
          <p:cNvSpPr txBox="true"/>
          <p:nvPr/>
        </p:nvSpPr>
        <p:spPr>
          <a:xfrm rot="0">
            <a:off x="1787801" y="6015782"/>
            <a:ext cx="4532832" cy="404448"/>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System Architecture</a:t>
            </a:r>
          </a:p>
        </p:txBody>
      </p:sp>
      <p:grpSp>
        <p:nvGrpSpPr>
          <p:cNvPr name="Group 43" id="43"/>
          <p:cNvGrpSpPr/>
          <p:nvPr/>
        </p:nvGrpSpPr>
        <p:grpSpPr>
          <a:xfrm rot="0">
            <a:off x="11611280" y="7280093"/>
            <a:ext cx="4023822" cy="864262"/>
            <a:chOff x="0" y="0"/>
            <a:chExt cx="5365096" cy="1152349"/>
          </a:xfrm>
        </p:grpSpPr>
        <p:grpSp>
          <p:nvGrpSpPr>
            <p:cNvPr name="Group 44" id="44"/>
            <p:cNvGrpSpPr/>
            <p:nvPr/>
          </p:nvGrpSpPr>
          <p:grpSpPr>
            <a:xfrm rot="0">
              <a:off x="0" y="0"/>
              <a:ext cx="716997" cy="673233"/>
              <a:chOff x="0" y="0"/>
              <a:chExt cx="743906" cy="698500"/>
            </a:xfrm>
          </p:grpSpPr>
          <p:sp>
            <p:nvSpPr>
              <p:cNvPr name="Freeform 45" id="45"/>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46" id="46"/>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47" id="47"/>
            <p:cNvSpPr txBox="true"/>
            <p:nvPr/>
          </p:nvSpPr>
          <p:spPr>
            <a:xfrm rot="0">
              <a:off x="1012135" y="54285"/>
              <a:ext cx="4352961" cy="1098064"/>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Scrum Based Agile Board</a:t>
              </a:r>
            </a:p>
          </p:txBody>
        </p:sp>
      </p:grpSp>
      <p:grpSp>
        <p:nvGrpSpPr>
          <p:cNvPr name="Group 48" id="48"/>
          <p:cNvGrpSpPr/>
          <p:nvPr/>
        </p:nvGrpSpPr>
        <p:grpSpPr>
          <a:xfrm rot="0">
            <a:off x="6320633" y="7280093"/>
            <a:ext cx="4023822" cy="504925"/>
            <a:chOff x="0" y="0"/>
            <a:chExt cx="5365096" cy="673233"/>
          </a:xfrm>
        </p:grpSpPr>
        <p:grpSp>
          <p:nvGrpSpPr>
            <p:cNvPr name="Group 49" id="49"/>
            <p:cNvGrpSpPr/>
            <p:nvPr/>
          </p:nvGrpSpPr>
          <p:grpSpPr>
            <a:xfrm rot="0">
              <a:off x="0" y="0"/>
              <a:ext cx="716997" cy="673233"/>
              <a:chOff x="0" y="0"/>
              <a:chExt cx="743906" cy="698500"/>
            </a:xfrm>
          </p:grpSpPr>
          <p:sp>
            <p:nvSpPr>
              <p:cNvPr name="Freeform 50" id="50"/>
              <p:cNvSpPr/>
              <p:nvPr/>
            </p:nvSpPr>
            <p:spPr>
              <a:xfrm flipH="false" flipV="false" rot="0">
                <a:off x="0" y="0"/>
                <a:ext cx="743906" cy="694690"/>
              </a:xfrm>
              <a:custGeom>
                <a:avLst/>
                <a:gdLst/>
                <a:ahLst/>
                <a:cxnLst/>
                <a:rect r="r" b="b" t="t" l="l"/>
                <a:pathLst>
                  <a:path h="694690" w="743906">
                    <a:moveTo>
                      <a:pt x="371953" y="0"/>
                    </a:moveTo>
                    <a:lnTo>
                      <a:pt x="400565" y="267970"/>
                    </a:lnTo>
                    <a:lnTo>
                      <a:pt x="602277" y="66040"/>
                    </a:lnTo>
                    <a:lnTo>
                      <a:pt x="447774" y="298450"/>
                    </a:lnTo>
                    <a:lnTo>
                      <a:pt x="743906" y="240030"/>
                    </a:lnTo>
                    <a:lnTo>
                      <a:pt x="464941" y="346710"/>
                    </a:lnTo>
                    <a:lnTo>
                      <a:pt x="743906" y="454660"/>
                    </a:lnTo>
                    <a:lnTo>
                      <a:pt x="447774" y="396240"/>
                    </a:lnTo>
                    <a:lnTo>
                      <a:pt x="602277" y="628650"/>
                    </a:lnTo>
                    <a:lnTo>
                      <a:pt x="400565" y="425450"/>
                    </a:lnTo>
                    <a:lnTo>
                      <a:pt x="371953" y="694690"/>
                    </a:lnTo>
                    <a:lnTo>
                      <a:pt x="343341" y="425450"/>
                    </a:lnTo>
                    <a:lnTo>
                      <a:pt x="141628" y="628650"/>
                    </a:lnTo>
                    <a:lnTo>
                      <a:pt x="296132" y="396240"/>
                    </a:lnTo>
                    <a:lnTo>
                      <a:pt x="0" y="454660"/>
                    </a:lnTo>
                    <a:lnTo>
                      <a:pt x="278965" y="346710"/>
                    </a:lnTo>
                    <a:lnTo>
                      <a:pt x="0" y="240030"/>
                    </a:lnTo>
                    <a:lnTo>
                      <a:pt x="296132" y="298450"/>
                    </a:lnTo>
                    <a:lnTo>
                      <a:pt x="141628" y="66040"/>
                    </a:lnTo>
                    <a:lnTo>
                      <a:pt x="343341" y="267970"/>
                    </a:lnTo>
                    <a:close/>
                  </a:path>
                </a:pathLst>
              </a:custGeom>
              <a:solidFill>
                <a:srgbClr val="20562E"/>
              </a:solidFill>
            </p:spPr>
          </p:sp>
          <p:sp>
            <p:nvSpPr>
              <p:cNvPr name="TextBox 51" id="51"/>
              <p:cNvSpPr txBox="true"/>
              <p:nvPr/>
            </p:nvSpPr>
            <p:spPr>
              <a:xfrm>
                <a:off x="271812" y="228600"/>
                <a:ext cx="185976" cy="190500"/>
              </a:xfrm>
              <a:prstGeom prst="rect">
                <a:avLst/>
              </a:prstGeom>
            </p:spPr>
            <p:txBody>
              <a:bodyPr anchor="ctr" rtlCol="false" tIns="50800" lIns="50800" bIns="50800" rIns="50800"/>
              <a:lstStyle/>
              <a:p>
                <a:pPr algn="ctr">
                  <a:lnSpc>
                    <a:spcPts val="3432"/>
                  </a:lnSpc>
                </a:pPr>
              </a:p>
            </p:txBody>
          </p:sp>
        </p:grpSp>
        <p:sp>
          <p:nvSpPr>
            <p:cNvPr name="TextBox 52" id="52"/>
            <p:cNvSpPr txBox="true"/>
            <p:nvPr/>
          </p:nvSpPr>
          <p:spPr>
            <a:xfrm rot="0">
              <a:off x="1012135" y="54285"/>
              <a:ext cx="4352961" cy="526564"/>
            </a:xfrm>
            <a:prstGeom prst="rect">
              <a:avLst/>
            </a:prstGeom>
          </p:spPr>
          <p:txBody>
            <a:bodyPr anchor="t" rtlCol="false" tIns="0" lIns="0" bIns="0" rIns="0">
              <a:spAutoFit/>
            </a:bodyPr>
            <a:lstStyle/>
            <a:p>
              <a:pPr algn="l">
                <a:lnSpc>
                  <a:spcPts val="3432"/>
                </a:lnSpc>
                <a:spcBef>
                  <a:spcPct val="0"/>
                </a:spcBef>
              </a:pPr>
              <a:r>
                <a:rPr lang="en-US" sz="2451" b="true">
                  <a:solidFill>
                    <a:srgbClr val="20562E"/>
                  </a:solidFill>
                  <a:latin typeface="Canva Sans Bold"/>
                  <a:ea typeface="Canva Sans Bold"/>
                  <a:cs typeface="Canva Sans Bold"/>
                  <a:sym typeface="Canva Sans Bold"/>
                </a:rPr>
                <a:t>References</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028700" y="1788147"/>
            <a:ext cx="8683124" cy="1851414"/>
          </a:xfrm>
          <a:prstGeom prst="rect">
            <a:avLst/>
          </a:prstGeom>
        </p:spPr>
        <p:txBody>
          <a:bodyPr anchor="t" rtlCol="false" tIns="0" lIns="0" bIns="0" rIns="0">
            <a:spAutoFit/>
          </a:bodyPr>
          <a:lstStyle/>
          <a:p>
            <a:pPr algn="just">
              <a:lnSpc>
                <a:spcPts val="15028"/>
              </a:lnSpc>
              <a:spcBef>
                <a:spcPct val="0"/>
              </a:spcBef>
            </a:pPr>
            <a:r>
              <a:rPr lang="en-US" b="true" sz="10734">
                <a:solidFill>
                  <a:srgbClr val="20562E"/>
                </a:solidFill>
                <a:latin typeface="Bricolage Grotesque Bold"/>
                <a:ea typeface="Bricolage Grotesque Bold"/>
                <a:cs typeface="Bricolage Grotesque Bold"/>
                <a:sym typeface="Bricolage Grotesque Bold"/>
              </a:rPr>
              <a:t>Int</a:t>
            </a:r>
            <a:r>
              <a:rPr lang="en-US" b="true" sz="10734">
                <a:solidFill>
                  <a:srgbClr val="20562E"/>
                </a:solidFill>
                <a:latin typeface="Bricolage Grotesque Bold"/>
                <a:ea typeface="Bricolage Grotesque Bold"/>
                <a:cs typeface="Bricolage Grotesque Bold"/>
                <a:sym typeface="Bricolage Grotesque Bold"/>
              </a:rPr>
              <a:t>roduction</a:t>
            </a:r>
          </a:p>
        </p:txBody>
      </p:sp>
      <p:sp>
        <p:nvSpPr>
          <p:cNvPr name="TextBox 3" id="3"/>
          <p:cNvSpPr txBox="true"/>
          <p:nvPr/>
        </p:nvSpPr>
        <p:spPr>
          <a:xfrm rot="0">
            <a:off x="1116534" y="4010858"/>
            <a:ext cx="11280516" cy="2869565"/>
          </a:xfrm>
          <a:prstGeom prst="rect">
            <a:avLst/>
          </a:prstGeom>
        </p:spPr>
        <p:txBody>
          <a:bodyPr anchor="t" rtlCol="false" tIns="0" lIns="0" bIns="0" rIns="0">
            <a:spAutoFit/>
          </a:bodyPr>
          <a:lstStyle/>
          <a:p>
            <a:pPr algn="just">
              <a:lnSpc>
                <a:spcPts val="3250"/>
              </a:lnSpc>
            </a:pPr>
            <a:r>
              <a:rPr lang="en-US" sz="2600">
                <a:solidFill>
                  <a:srgbClr val="20562E"/>
                </a:solidFill>
                <a:latin typeface="Canva Sans"/>
                <a:ea typeface="Canva Sans"/>
                <a:cs typeface="Canva Sans"/>
                <a:sym typeface="Canva Sans"/>
              </a:rPr>
              <a:t>Ag</a:t>
            </a:r>
            <a:r>
              <a:rPr lang="en-US" sz="2600">
                <a:solidFill>
                  <a:srgbClr val="20562E"/>
                </a:solidFill>
                <a:latin typeface="Canva Sans"/>
                <a:ea typeface="Canva Sans"/>
                <a:cs typeface="Canva Sans"/>
                <a:sym typeface="Canva Sans"/>
              </a:rPr>
              <a:t>riculture plays a vital role in the economy, but farmers face significant risks due to unpredictable weather conditions and natural calamities. Crop insurance is intended to protect farmers from financial losses; however, existing systems are often inefficient, slow, and lack transparency. Emerging technologies like blockchain and smart contracts offer a promising solution to improve the reliability and automation of agricultural insurance systems.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028700" y="2243010"/>
            <a:ext cx="12921666" cy="1851414"/>
          </a:xfrm>
          <a:prstGeom prst="rect">
            <a:avLst/>
          </a:prstGeom>
        </p:spPr>
        <p:txBody>
          <a:bodyPr anchor="t" rtlCol="false" tIns="0" lIns="0" bIns="0" rIns="0">
            <a:spAutoFit/>
          </a:bodyPr>
          <a:lstStyle/>
          <a:p>
            <a:pPr algn="ctr">
              <a:lnSpc>
                <a:spcPts val="15028"/>
              </a:lnSpc>
              <a:spcBef>
                <a:spcPct val="0"/>
              </a:spcBef>
            </a:pPr>
            <a:r>
              <a:rPr lang="en-US" b="true" sz="10734">
                <a:solidFill>
                  <a:srgbClr val="20562E"/>
                </a:solidFill>
                <a:latin typeface="Bricolage Grotesque Bold"/>
                <a:ea typeface="Bricolage Grotesque Bold"/>
                <a:cs typeface="Bricolage Grotesque Bold"/>
                <a:sym typeface="Bricolage Grotesque Bold"/>
              </a:rPr>
              <a:t>P</a:t>
            </a:r>
            <a:r>
              <a:rPr lang="en-US" b="true" sz="10734">
                <a:solidFill>
                  <a:srgbClr val="20562E"/>
                </a:solidFill>
                <a:latin typeface="Bricolage Grotesque Bold"/>
                <a:ea typeface="Bricolage Grotesque Bold"/>
                <a:cs typeface="Bricolage Grotesque Bold"/>
                <a:sym typeface="Bricolage Grotesque Bold"/>
              </a:rPr>
              <a:t>roblem Statement</a:t>
            </a:r>
          </a:p>
        </p:txBody>
      </p:sp>
      <p:sp>
        <p:nvSpPr>
          <p:cNvPr name="TextBox 3" id="3"/>
          <p:cNvSpPr txBox="true"/>
          <p:nvPr/>
        </p:nvSpPr>
        <p:spPr>
          <a:xfrm rot="0">
            <a:off x="1152829" y="4617464"/>
            <a:ext cx="10399774" cy="2459990"/>
          </a:xfrm>
          <a:prstGeom prst="rect">
            <a:avLst/>
          </a:prstGeom>
        </p:spPr>
        <p:txBody>
          <a:bodyPr anchor="t" rtlCol="false" tIns="0" lIns="0" bIns="0" rIns="0">
            <a:spAutoFit/>
          </a:bodyPr>
          <a:lstStyle/>
          <a:p>
            <a:pPr algn="just">
              <a:lnSpc>
                <a:spcPts val="3250"/>
              </a:lnSpc>
            </a:pPr>
            <a:r>
              <a:rPr lang="en-US" sz="2600">
                <a:solidFill>
                  <a:srgbClr val="20562E"/>
                </a:solidFill>
                <a:latin typeface="Canva Sans"/>
                <a:ea typeface="Canva Sans"/>
                <a:cs typeface="Canva Sans"/>
                <a:sym typeface="Canva Sans"/>
              </a:rPr>
              <a:t>Traditional agri-insurance systems rely heavily on manual processes and intermediaries, leading to delayed claim settlements, lack of transparency, and disputes between farmers and insurers. Inaccurate or manipulated data and limited trust in the system further reduce its effectiveness, causing financial stress to farmers during critical periods.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012913" y="1872399"/>
            <a:ext cx="10862807" cy="1851414"/>
          </a:xfrm>
          <a:prstGeom prst="rect">
            <a:avLst/>
          </a:prstGeom>
        </p:spPr>
        <p:txBody>
          <a:bodyPr anchor="t" rtlCol="false" tIns="0" lIns="0" bIns="0" rIns="0">
            <a:spAutoFit/>
          </a:bodyPr>
          <a:lstStyle/>
          <a:p>
            <a:pPr algn="just">
              <a:lnSpc>
                <a:spcPts val="15028"/>
              </a:lnSpc>
              <a:spcBef>
                <a:spcPct val="0"/>
              </a:spcBef>
            </a:pPr>
            <a:r>
              <a:rPr lang="en-US" b="true" sz="10734">
                <a:solidFill>
                  <a:srgbClr val="20562E"/>
                </a:solidFill>
                <a:latin typeface="Bricolage Grotesque Bold"/>
                <a:ea typeface="Bricolage Grotesque Bold"/>
                <a:cs typeface="Bricolage Grotesque Bold"/>
                <a:sym typeface="Bricolage Grotesque Bold"/>
              </a:rPr>
              <a:t>Need for project</a:t>
            </a:r>
          </a:p>
        </p:txBody>
      </p:sp>
      <p:sp>
        <p:nvSpPr>
          <p:cNvPr name="TextBox 3" id="3"/>
          <p:cNvSpPr txBox="true"/>
          <p:nvPr/>
        </p:nvSpPr>
        <p:spPr>
          <a:xfrm rot="0">
            <a:off x="1028700" y="4095255"/>
            <a:ext cx="9816516" cy="3279140"/>
          </a:xfrm>
          <a:prstGeom prst="rect">
            <a:avLst/>
          </a:prstGeom>
        </p:spPr>
        <p:txBody>
          <a:bodyPr anchor="t" rtlCol="false" tIns="0" lIns="0" bIns="0" rIns="0">
            <a:spAutoFit/>
          </a:bodyPr>
          <a:lstStyle/>
          <a:p>
            <a:pPr algn="just">
              <a:lnSpc>
                <a:spcPts val="3250"/>
              </a:lnSpc>
            </a:pPr>
            <a:r>
              <a:rPr lang="en-US" sz="2600">
                <a:solidFill>
                  <a:srgbClr val="20562E"/>
                </a:solidFill>
                <a:latin typeface="Canva Sans"/>
                <a:ea typeface="Canva Sans"/>
                <a:cs typeface="Canva Sans"/>
                <a:sym typeface="Canva Sans"/>
              </a:rPr>
              <a:t>Ag</a:t>
            </a:r>
            <a:r>
              <a:rPr lang="en-US" sz="2600">
                <a:solidFill>
                  <a:srgbClr val="20562E"/>
                </a:solidFill>
                <a:latin typeface="Canva Sans"/>
                <a:ea typeface="Canva Sans"/>
                <a:cs typeface="Canva Sans"/>
                <a:sym typeface="Canva Sans"/>
              </a:rPr>
              <a:t>riculture plays a vital role in the economy, but farmers face significant risks due to unpredictable weather conditions and natural calamities. Crop insurance is intended to protect farmers from financial losses; however, existing systems are often inefficient, slow, and lack transparency. Emerging technologies like blockchain and smart contracts offer a promising solution to improve the reliability and automation of agricultural insurance systems.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028700" y="857250"/>
            <a:ext cx="13749312" cy="1525648"/>
          </a:xfrm>
          <a:prstGeom prst="rect">
            <a:avLst/>
          </a:prstGeom>
        </p:spPr>
        <p:txBody>
          <a:bodyPr anchor="t" rtlCol="false" tIns="0" lIns="0" bIns="0" rIns="0">
            <a:spAutoFit/>
          </a:bodyPr>
          <a:lstStyle/>
          <a:p>
            <a:pPr algn="l">
              <a:lnSpc>
                <a:spcPts val="12509"/>
              </a:lnSpc>
              <a:spcBef>
                <a:spcPct val="0"/>
              </a:spcBef>
            </a:pPr>
            <a:r>
              <a:rPr lang="en-US" sz="8935" b="true">
                <a:solidFill>
                  <a:srgbClr val="20562E"/>
                </a:solidFill>
                <a:latin typeface="Bricolage Grotesque Bold"/>
                <a:ea typeface="Bricolage Grotesque Bold"/>
                <a:cs typeface="Bricolage Grotesque Bold"/>
                <a:sym typeface="Bricolage Grotesque Bold"/>
              </a:rPr>
              <a:t>References</a:t>
            </a:r>
          </a:p>
        </p:txBody>
      </p:sp>
      <p:sp>
        <p:nvSpPr>
          <p:cNvPr name="TextBox 3" id="3"/>
          <p:cNvSpPr txBox="true"/>
          <p:nvPr/>
        </p:nvSpPr>
        <p:spPr>
          <a:xfrm rot="0">
            <a:off x="1028700" y="2502690"/>
            <a:ext cx="15826808" cy="6755610"/>
          </a:xfrm>
          <a:prstGeom prst="rect">
            <a:avLst/>
          </a:prstGeom>
        </p:spPr>
        <p:txBody>
          <a:bodyPr anchor="t" rtlCol="false" tIns="0" lIns="0" bIns="0" rIns="0">
            <a:spAutoFit/>
          </a:bodyPr>
          <a:lstStyle/>
          <a:p>
            <a:pPr algn="l" marL="529352" indent="-264676" lvl="1">
              <a:lnSpc>
                <a:spcPts val="3898"/>
              </a:lnSpc>
              <a:buAutoNum type="arabicPeriod" startAt="1"/>
            </a:pPr>
            <a:r>
              <a:rPr lang="en-US" b="true" sz="2451">
                <a:solidFill>
                  <a:srgbClr val="20562E"/>
                </a:solidFill>
                <a:latin typeface="Canva Sans Bold"/>
                <a:ea typeface="Canva Sans Bold"/>
                <a:cs typeface="Canva Sans Bold"/>
                <a:sym typeface="Canva Sans Bold"/>
              </a:rPr>
              <a:t> Blockchain Oracles for Decentralized Agricultural Insurance (Frontiers in Blockchain, 2025)</a:t>
            </a:r>
          </a:p>
          <a:p>
            <a:pPr algn="l">
              <a:lnSpc>
                <a:spcPts val="3898"/>
              </a:lnSpc>
            </a:pPr>
            <a:r>
              <a:rPr lang="en-US" b="true" sz="2451" u="sng">
                <a:solidFill>
                  <a:srgbClr val="20562E"/>
                </a:solidFill>
                <a:latin typeface="Canva Sans Bold"/>
                <a:ea typeface="Canva Sans Bold"/>
                <a:cs typeface="Canva Sans Bold"/>
                <a:sym typeface="Canva Sans Bold"/>
                <a:hlinkClick r:id="rId2" tooltip="https://www.frontiersin.org/articles/10.3389/fbloc.2024.1481339/full?utm_source=chatgpt.com"/>
              </a:rPr>
              <a:t>https://www.frontiersin.org/articles/10.3389/fbloc.2024.1481339/full</a:t>
            </a:r>
            <a:r>
              <a:rPr lang="en-US" sz="2451" b="true">
                <a:solidFill>
                  <a:srgbClr val="20562E"/>
                </a:solidFill>
                <a:latin typeface="Canva Sans Bold"/>
                <a:ea typeface="Canva Sans Bold"/>
                <a:cs typeface="Canva Sans Bold"/>
                <a:sym typeface="Canva Sans Bold"/>
              </a:rPr>
              <a:t> </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Description:</a:t>
            </a:r>
          </a:p>
          <a:p>
            <a:pPr algn="l">
              <a:lnSpc>
                <a:spcPts val="3898"/>
              </a:lnSpc>
            </a:pPr>
            <a:r>
              <a:rPr lang="en-US" sz="2451">
                <a:solidFill>
                  <a:srgbClr val="20562E"/>
                </a:solidFill>
                <a:latin typeface="Canva Sans"/>
                <a:ea typeface="Canva Sans"/>
                <a:cs typeface="Canva Sans"/>
                <a:sym typeface="Canva Sans"/>
              </a:rPr>
              <a:t>This paper proposes a decentralized agricultural insurance framework using blockchain and oracle networks. It focuses on improving trust and transparency in weather-based insurance claims.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Methodology:</a:t>
            </a:r>
          </a:p>
          <a:p>
            <a:pPr algn="l">
              <a:lnSpc>
                <a:spcPts val="3898"/>
              </a:lnSpc>
            </a:pPr>
            <a:r>
              <a:rPr lang="en-US" sz="2451">
                <a:solidFill>
                  <a:srgbClr val="20562E"/>
                </a:solidFill>
                <a:latin typeface="Canva Sans"/>
                <a:ea typeface="Canva Sans"/>
                <a:cs typeface="Canva Sans"/>
                <a:sym typeface="Canva Sans"/>
              </a:rPr>
              <a:t> The authors design a decentralized oracle network integrated with smart contracts. IoT-based weather data is verified and passed to blockchain for automated claim validation.</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Research Gap:</a:t>
            </a:r>
          </a:p>
          <a:p>
            <a:pPr algn="l">
              <a:lnSpc>
                <a:spcPts val="3898"/>
              </a:lnSpc>
            </a:pPr>
            <a:r>
              <a:rPr lang="en-US" sz="2451">
                <a:solidFill>
                  <a:srgbClr val="20562E"/>
                </a:solidFill>
                <a:latin typeface="Canva Sans"/>
                <a:ea typeface="Canva Sans"/>
                <a:cs typeface="Canva Sans"/>
                <a:sym typeface="Canva Sans"/>
              </a:rPr>
              <a:t> The study lacks large-scale real-world deployment. It does not analyze farmer usability or transaction cost optimization in practical scenarios.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336351" y="1727595"/>
            <a:ext cx="15615298" cy="6755610"/>
          </a:xfrm>
          <a:prstGeom prst="rect">
            <a:avLst/>
          </a:prstGeom>
        </p:spPr>
        <p:txBody>
          <a:bodyPr anchor="t" rtlCol="false" tIns="0" lIns="0" bIns="0" rIns="0">
            <a:spAutoFit/>
          </a:bodyPr>
          <a:lstStyle/>
          <a:p>
            <a:pPr algn="l" marL="529352" indent="-264676" lvl="1">
              <a:lnSpc>
                <a:spcPts val="3898"/>
              </a:lnSpc>
              <a:buAutoNum type="arabicPeriod" startAt="1"/>
            </a:pPr>
            <a:r>
              <a:rPr lang="en-US" b="true" sz="2451">
                <a:solidFill>
                  <a:srgbClr val="20562E"/>
                </a:solidFill>
                <a:latin typeface="Canva Sans Bold"/>
                <a:ea typeface="Canva Sans Bold"/>
                <a:cs typeface="Canva Sans Bold"/>
                <a:sym typeface="Canva Sans Bold"/>
              </a:rPr>
              <a:t> Blockchain Based Crop Insurance: A Decentralized Insurance System (Sustainability, 2021)</a:t>
            </a:r>
          </a:p>
          <a:p>
            <a:pPr algn="l">
              <a:lnSpc>
                <a:spcPts val="3898"/>
              </a:lnSpc>
            </a:pPr>
            <a:r>
              <a:rPr lang="en-US" sz="2451">
                <a:solidFill>
                  <a:srgbClr val="20562E"/>
                </a:solidFill>
                <a:latin typeface="Canva Sans"/>
                <a:ea typeface="Canva Sans"/>
                <a:cs typeface="Canva Sans"/>
                <a:sym typeface="Canva Sans"/>
              </a:rPr>
              <a:t>       </a:t>
            </a:r>
            <a:r>
              <a:rPr lang="en-US" b="true" sz="2451" u="sng">
                <a:solidFill>
                  <a:srgbClr val="20562E"/>
                </a:solidFill>
                <a:latin typeface="Canva Sans Bold"/>
                <a:ea typeface="Canva Sans Bold"/>
                <a:cs typeface="Canva Sans Bold"/>
                <a:sym typeface="Canva Sans Bold"/>
                <a:hlinkClick r:id="rId2" tooltip="https://www.mdpi.com/2071-1050/13/16/8921?utm_source=chatgpt.com"/>
              </a:rPr>
              <a:t>https://www.mdpi.com/2071-1050/13/16/8921</a:t>
            </a:r>
            <a:r>
              <a:rPr lang="en-US" sz="2451" b="true">
                <a:solidFill>
                  <a:srgbClr val="20562E"/>
                </a:solidFill>
                <a:latin typeface="Canva Sans Bold"/>
                <a:ea typeface="Canva Sans Bold"/>
                <a:cs typeface="Canva Sans Bold"/>
                <a:sym typeface="Canva Sans Bold"/>
              </a:rPr>
              <a:t> </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Description:</a:t>
            </a:r>
          </a:p>
          <a:p>
            <a:pPr algn="l">
              <a:lnSpc>
                <a:spcPts val="3898"/>
              </a:lnSpc>
            </a:pPr>
            <a:r>
              <a:rPr lang="en-US" sz="2451">
                <a:solidFill>
                  <a:srgbClr val="20562E"/>
                </a:solidFill>
                <a:latin typeface="Canva Sans"/>
                <a:ea typeface="Canva Sans"/>
                <a:cs typeface="Canva Sans"/>
                <a:sym typeface="Canva Sans"/>
              </a:rPr>
              <a:t>This research presents a decentralized crop insurance model using Ethereum smart contracts. It aims to automate payouts and reduce fraud in traditional systems.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Methodology:</a:t>
            </a:r>
          </a:p>
          <a:p>
            <a:pPr algn="l">
              <a:lnSpc>
                <a:spcPts val="3898"/>
              </a:lnSpc>
            </a:pPr>
            <a:r>
              <a:rPr lang="en-US" sz="2451">
                <a:solidFill>
                  <a:srgbClr val="20562E"/>
                </a:solidFill>
                <a:latin typeface="Canva Sans"/>
                <a:ea typeface="Canva Sans"/>
                <a:cs typeface="Canva Sans"/>
                <a:sym typeface="Canva Sans"/>
              </a:rPr>
              <a:t>Smart contracts are deployed on Ethereum to store policies and execute predefined payout conditions based on weather thresholds.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Research Gap:</a:t>
            </a:r>
          </a:p>
          <a:p>
            <a:pPr algn="l">
              <a:lnSpc>
                <a:spcPts val="3898"/>
              </a:lnSpc>
            </a:pPr>
            <a:r>
              <a:rPr lang="en-US" sz="2451">
                <a:solidFill>
                  <a:srgbClr val="20562E"/>
                </a:solidFill>
                <a:latin typeface="Canva Sans"/>
                <a:ea typeface="Canva Sans"/>
                <a:cs typeface="Canva Sans"/>
                <a:sym typeface="Canva Sans"/>
              </a:rPr>
              <a:t>The system is mainly prototype-based and lacks real-time oracle integration. Scalability and gas cost issues are not thoroughly evaluated.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028700" y="1241820"/>
            <a:ext cx="15615298" cy="7241385"/>
          </a:xfrm>
          <a:prstGeom prst="rect">
            <a:avLst/>
          </a:prstGeom>
        </p:spPr>
        <p:txBody>
          <a:bodyPr anchor="t" rtlCol="false" tIns="0" lIns="0" bIns="0" rIns="0">
            <a:spAutoFit/>
          </a:bodyPr>
          <a:lstStyle/>
          <a:p>
            <a:pPr algn="l" marL="529352" indent="-264676" lvl="1">
              <a:lnSpc>
                <a:spcPts val="3898"/>
              </a:lnSpc>
              <a:buAutoNum type="arabicPeriod" startAt="1"/>
            </a:pPr>
            <a:r>
              <a:rPr lang="en-US" b="true" sz="2451">
                <a:solidFill>
                  <a:srgbClr val="20562E"/>
                </a:solidFill>
                <a:latin typeface="Canva Sans Bold"/>
                <a:ea typeface="Canva Sans Bold"/>
                <a:cs typeface="Canva Sans Bold"/>
                <a:sym typeface="Canva Sans Bold"/>
              </a:rPr>
              <a:t> Trusted IoT Data Sharing and Oracle Access for Agricultural Risk Management (Comp. &amp; Electronics in Agriculture, 2023)</a:t>
            </a:r>
          </a:p>
          <a:p>
            <a:pPr algn="l">
              <a:lnSpc>
                <a:spcPts val="3898"/>
              </a:lnSpc>
            </a:pPr>
            <a:r>
              <a:rPr lang="en-US" sz="2451" b="true">
                <a:solidFill>
                  <a:srgbClr val="20562E"/>
                </a:solidFill>
                <a:latin typeface="Canva Sans Bold"/>
                <a:ea typeface="Canva Sans Bold"/>
                <a:cs typeface="Canva Sans Bold"/>
                <a:sym typeface="Canva Sans Bold"/>
              </a:rPr>
              <a:t>     </a:t>
            </a:r>
            <a:r>
              <a:rPr lang="en-US" sz="2451" b="true">
                <a:solidFill>
                  <a:srgbClr val="20562E"/>
                </a:solidFill>
                <a:latin typeface="Canva Sans Bold"/>
                <a:ea typeface="Canva Sans Bold"/>
                <a:cs typeface="Canva Sans Bold"/>
                <a:sym typeface="Canva Sans Bold"/>
              </a:rPr>
              <a:t> </a:t>
            </a:r>
            <a:r>
              <a:rPr lang="en-US" b="true" sz="2451" u="sng">
                <a:solidFill>
                  <a:srgbClr val="20562E"/>
                </a:solidFill>
                <a:latin typeface="Canva Sans Bold"/>
                <a:ea typeface="Canva Sans Bold"/>
                <a:cs typeface="Canva Sans Bold"/>
                <a:sym typeface="Canva Sans Bold"/>
                <a:hlinkClick r:id="rId2" tooltip="https://www.sciencedirect.com/science/article/abs/pii/S0168169922008523?utm_source=chatgpt.com"/>
              </a:rPr>
              <a:t>https://www.sciencedirect.com/science/article/abs/pii/S0168169922008523</a:t>
            </a:r>
            <a:r>
              <a:rPr lang="en-US" sz="2451" b="true">
                <a:solidFill>
                  <a:srgbClr val="20562E"/>
                </a:solidFill>
                <a:latin typeface="Canva Sans Bold"/>
                <a:ea typeface="Canva Sans Bold"/>
                <a:cs typeface="Canva Sans Bold"/>
                <a:sym typeface="Canva Sans Bold"/>
              </a:rPr>
              <a:t> </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Description:</a:t>
            </a:r>
          </a:p>
          <a:p>
            <a:pPr algn="l">
              <a:lnSpc>
                <a:spcPts val="3898"/>
              </a:lnSpc>
            </a:pPr>
            <a:r>
              <a:rPr lang="en-US" sz="2451">
                <a:solidFill>
                  <a:srgbClr val="20562E"/>
                </a:solidFill>
                <a:latin typeface="Canva Sans"/>
                <a:ea typeface="Canva Sans"/>
                <a:cs typeface="Canva Sans"/>
                <a:sym typeface="Canva Sans"/>
              </a:rPr>
              <a:t> This paper focuses on secure IoT data sharing for agricultural risk management using blockchain. It enhances trust in external data sources.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Methodology:</a:t>
            </a:r>
          </a:p>
          <a:p>
            <a:pPr algn="l">
              <a:lnSpc>
                <a:spcPts val="3898"/>
              </a:lnSpc>
            </a:pPr>
            <a:r>
              <a:rPr lang="en-US" sz="2451">
                <a:solidFill>
                  <a:srgbClr val="20562E"/>
                </a:solidFill>
                <a:latin typeface="Canva Sans"/>
                <a:ea typeface="Canva Sans"/>
                <a:cs typeface="Canva Sans"/>
                <a:sym typeface="Canva Sans"/>
              </a:rPr>
              <a:t> The model combines IoT sensors, decentralized identity systems, and blockchain to verify agricultural data before sending it to smart contracts.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Research Gap:</a:t>
            </a:r>
          </a:p>
          <a:p>
            <a:pPr algn="l">
              <a:lnSpc>
                <a:spcPts val="3898"/>
              </a:lnSpc>
            </a:pPr>
            <a:r>
              <a:rPr lang="en-US" sz="2451">
                <a:solidFill>
                  <a:srgbClr val="20562E"/>
                </a:solidFill>
                <a:latin typeface="Canva Sans"/>
                <a:ea typeface="Canva Sans"/>
                <a:cs typeface="Canva Sans"/>
                <a:sym typeface="Canva Sans"/>
              </a:rPr>
              <a:t> The study does not implement a complete automated payout mechanism. It also lacks cost-effectiveness analysis and field testing in real farm environments.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028700" y="1241820"/>
            <a:ext cx="15615298" cy="7727160"/>
          </a:xfrm>
          <a:prstGeom prst="rect">
            <a:avLst/>
          </a:prstGeom>
        </p:spPr>
        <p:txBody>
          <a:bodyPr anchor="t" rtlCol="false" tIns="0" lIns="0" bIns="0" rIns="0">
            <a:spAutoFit/>
          </a:bodyPr>
          <a:lstStyle/>
          <a:p>
            <a:pPr algn="l" marL="529352" indent="-264676" lvl="1">
              <a:lnSpc>
                <a:spcPts val="3898"/>
              </a:lnSpc>
              <a:buAutoNum type="arabicPeriod" startAt="1"/>
            </a:pPr>
            <a:r>
              <a:rPr lang="en-US" b="true" sz="2451">
                <a:solidFill>
                  <a:srgbClr val="20562E"/>
                </a:solidFill>
                <a:latin typeface="Canva Sans Bold"/>
                <a:ea typeface="Canva Sans Bold"/>
                <a:cs typeface="Canva Sans Bold"/>
                <a:sym typeface="Canva Sans Bold"/>
              </a:rPr>
              <a:t>Trusted IoT Data Sharing and Oracle Access for Agricultural Risk Management (Comp. &amp; Electronics in Agriculture, 2023)</a:t>
            </a:r>
          </a:p>
          <a:p>
            <a:pPr algn="l">
              <a:lnSpc>
                <a:spcPts val="3898"/>
              </a:lnSpc>
            </a:pPr>
            <a:r>
              <a:rPr lang="en-US" sz="2451" b="true">
                <a:solidFill>
                  <a:srgbClr val="20562E"/>
                </a:solidFill>
                <a:latin typeface="Canva Sans Bold"/>
                <a:ea typeface="Canva Sans Bold"/>
                <a:cs typeface="Canva Sans Bold"/>
                <a:sym typeface="Canva Sans Bold"/>
              </a:rPr>
              <a:t>     </a:t>
            </a:r>
            <a:r>
              <a:rPr lang="en-US" sz="2451" b="true">
                <a:solidFill>
                  <a:srgbClr val="20562E"/>
                </a:solidFill>
                <a:latin typeface="Canva Sans Bold"/>
                <a:ea typeface="Canva Sans Bold"/>
                <a:cs typeface="Canva Sans Bold"/>
                <a:sym typeface="Canva Sans Bold"/>
              </a:rPr>
              <a:t> </a:t>
            </a:r>
            <a:r>
              <a:rPr lang="en-US" b="true" sz="2451" u="sng">
                <a:solidFill>
                  <a:srgbClr val="20562E"/>
                </a:solidFill>
                <a:latin typeface="Canva Sans Bold"/>
                <a:ea typeface="Canva Sans Bold"/>
                <a:cs typeface="Canva Sans Bold"/>
                <a:sym typeface="Canva Sans Bold"/>
                <a:hlinkClick r:id="rId2" tooltip="https://www.sciencedirect.com/science/article/abs/pii/S0168169922008523?utm_source=chatgpt.com"/>
              </a:rPr>
              <a:t>https://www.sciencedirect.com/science/article/abs/pii/S0168169922008523</a:t>
            </a:r>
            <a:r>
              <a:rPr lang="en-US" sz="2451" b="true">
                <a:solidFill>
                  <a:srgbClr val="20562E"/>
                </a:solidFill>
                <a:latin typeface="Canva Sans Bold"/>
                <a:ea typeface="Canva Sans Bold"/>
                <a:cs typeface="Canva Sans Bold"/>
                <a:sym typeface="Canva Sans Bold"/>
              </a:rPr>
              <a:t> </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Description:</a:t>
            </a:r>
          </a:p>
          <a:p>
            <a:pPr algn="l">
              <a:lnSpc>
                <a:spcPts val="3898"/>
              </a:lnSpc>
            </a:pPr>
            <a:r>
              <a:rPr lang="en-US" sz="2451">
                <a:solidFill>
                  <a:srgbClr val="20562E"/>
                </a:solidFill>
                <a:latin typeface="Canva Sans"/>
                <a:ea typeface="Canva Sans"/>
                <a:cs typeface="Canva Sans"/>
                <a:sym typeface="Canva Sans"/>
              </a:rPr>
              <a:t>This research introduces a peer-to-peer crop insurance model where farmers collectively share risk without traditional insurance companies.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Methodology:</a:t>
            </a:r>
          </a:p>
          <a:p>
            <a:pPr algn="l">
              <a:lnSpc>
                <a:spcPts val="3898"/>
              </a:lnSpc>
            </a:pPr>
            <a:r>
              <a:rPr lang="en-US" sz="2451">
                <a:solidFill>
                  <a:srgbClr val="20562E"/>
                </a:solidFill>
                <a:latin typeface="Canva Sans"/>
                <a:ea typeface="Canva Sans"/>
                <a:cs typeface="Canva Sans"/>
                <a:sym typeface="Canva Sans"/>
              </a:rPr>
              <a:t>Blockchain smart contracts are used to pool funds and distribute payouts among participants based on predefined risk-sharing rules.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Research Gap:</a:t>
            </a:r>
          </a:p>
          <a:p>
            <a:pPr algn="l">
              <a:lnSpc>
                <a:spcPts val="3898"/>
              </a:lnSpc>
            </a:pPr>
            <a:r>
              <a:rPr lang="en-US" sz="2451">
                <a:solidFill>
                  <a:srgbClr val="20562E"/>
                </a:solidFill>
                <a:latin typeface="Canva Sans"/>
                <a:ea typeface="Canva Sans"/>
                <a:cs typeface="Canva Sans"/>
                <a:sym typeface="Canva Sans"/>
              </a:rPr>
              <a:t>The framework does not integrate real-time weather oracles. It also lacks regulatory considerations and scalability testing for large user bases.</a:t>
            </a:r>
          </a:p>
          <a:p>
            <a:pPr algn="l">
              <a:lnSpc>
                <a:spcPts val="3898"/>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336351" y="1484707"/>
            <a:ext cx="15615298" cy="7241385"/>
          </a:xfrm>
          <a:prstGeom prst="rect">
            <a:avLst/>
          </a:prstGeom>
        </p:spPr>
        <p:txBody>
          <a:bodyPr anchor="t" rtlCol="false" tIns="0" lIns="0" bIns="0" rIns="0">
            <a:spAutoFit/>
          </a:bodyPr>
          <a:lstStyle/>
          <a:p>
            <a:pPr algn="l" marL="529352" indent="-264676" lvl="1">
              <a:lnSpc>
                <a:spcPts val="3898"/>
              </a:lnSpc>
              <a:buAutoNum type="arabicPeriod" startAt="1"/>
            </a:pPr>
            <a:r>
              <a:rPr lang="en-US" b="true" sz="2451">
                <a:solidFill>
                  <a:srgbClr val="20562E"/>
                </a:solidFill>
                <a:latin typeface="Canva Sans Bold"/>
                <a:ea typeface="Canva Sans Bold"/>
                <a:cs typeface="Canva Sans Bold"/>
                <a:sym typeface="Canva Sans Bold"/>
              </a:rPr>
              <a:t>Decentralized Peer-to-Peer Crop Insurance (ACM, 2021)</a:t>
            </a:r>
          </a:p>
          <a:p>
            <a:pPr algn="l">
              <a:lnSpc>
                <a:spcPts val="3898"/>
              </a:lnSpc>
            </a:pPr>
            <a:r>
              <a:rPr lang="en-US" sz="2451">
                <a:solidFill>
                  <a:srgbClr val="20562E"/>
                </a:solidFill>
                <a:latin typeface="Canva Sans"/>
                <a:ea typeface="Canva Sans"/>
                <a:cs typeface="Canva Sans"/>
                <a:sym typeface="Canva Sans"/>
              </a:rPr>
              <a:t>       </a:t>
            </a:r>
            <a:r>
              <a:rPr lang="en-US" b="true" sz="2451" u="sng">
                <a:solidFill>
                  <a:srgbClr val="20562E"/>
                </a:solidFill>
                <a:latin typeface="Canva Sans Bold"/>
                <a:ea typeface="Canva Sans Bold"/>
                <a:cs typeface="Canva Sans Bold"/>
                <a:sym typeface="Canva Sans Bold"/>
                <a:hlinkClick r:id="rId2" tooltip="https://dl.acm.org/doi/10.1145/3457337.3457837?utm_source=chatgpt.com"/>
              </a:rPr>
              <a:t>https://dl.acm.org/doi/10.1145/3457337.3457837</a:t>
            </a:r>
            <a:r>
              <a:rPr lang="en-US" sz="2451" b="true">
                <a:solidFill>
                  <a:srgbClr val="20562E"/>
                </a:solidFill>
                <a:latin typeface="Canva Sans Bold"/>
                <a:ea typeface="Canva Sans Bold"/>
                <a:cs typeface="Canva Sans Bold"/>
                <a:sym typeface="Canva Sans Bold"/>
              </a:rPr>
              <a:t> </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Description:</a:t>
            </a:r>
          </a:p>
          <a:p>
            <a:pPr algn="l">
              <a:lnSpc>
                <a:spcPts val="3898"/>
              </a:lnSpc>
            </a:pPr>
            <a:r>
              <a:rPr lang="en-US" sz="2451">
                <a:solidFill>
                  <a:srgbClr val="20562E"/>
                </a:solidFill>
                <a:latin typeface="Canva Sans"/>
                <a:ea typeface="Canva Sans"/>
                <a:cs typeface="Canva Sans"/>
                <a:sym typeface="Canva Sans"/>
              </a:rPr>
              <a:t>This research introduces a peer-to-peer crop insurance model where farmers collectively share risk without traditional insurance companies.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Methodology:</a:t>
            </a:r>
          </a:p>
          <a:p>
            <a:pPr algn="l">
              <a:lnSpc>
                <a:spcPts val="3898"/>
              </a:lnSpc>
            </a:pPr>
            <a:r>
              <a:rPr lang="en-US" sz="2451">
                <a:solidFill>
                  <a:srgbClr val="20562E"/>
                </a:solidFill>
                <a:latin typeface="Canva Sans"/>
                <a:ea typeface="Canva Sans"/>
                <a:cs typeface="Canva Sans"/>
                <a:sym typeface="Canva Sans"/>
              </a:rPr>
              <a:t>Blockchain smart contracts are used to pool funds and distribute payouts among participants based on predefined risk-sharing rules.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Research Gap:</a:t>
            </a:r>
          </a:p>
          <a:p>
            <a:pPr algn="l">
              <a:lnSpc>
                <a:spcPts val="3898"/>
              </a:lnSpc>
            </a:pPr>
            <a:r>
              <a:rPr lang="en-US" sz="2451">
                <a:solidFill>
                  <a:srgbClr val="20562E"/>
                </a:solidFill>
                <a:latin typeface="Canva Sans"/>
                <a:ea typeface="Canva Sans"/>
                <a:cs typeface="Canva Sans"/>
                <a:sym typeface="Canva Sans"/>
              </a:rPr>
              <a:t>The framework does not integrate real-time weather oracles. It also lacks regulatory considerations and scalability testing for large user bases.</a:t>
            </a:r>
          </a:p>
          <a:p>
            <a:pPr algn="l">
              <a:lnSpc>
                <a:spcPts val="3898"/>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336351" y="1727595"/>
            <a:ext cx="15615298" cy="6755610"/>
          </a:xfrm>
          <a:prstGeom prst="rect">
            <a:avLst/>
          </a:prstGeom>
        </p:spPr>
        <p:txBody>
          <a:bodyPr anchor="t" rtlCol="false" tIns="0" lIns="0" bIns="0" rIns="0">
            <a:spAutoFit/>
          </a:bodyPr>
          <a:lstStyle/>
          <a:p>
            <a:pPr algn="l" marL="529352" indent="-264676" lvl="1">
              <a:lnSpc>
                <a:spcPts val="3898"/>
              </a:lnSpc>
              <a:buAutoNum type="arabicPeriod" startAt="1"/>
            </a:pPr>
            <a:r>
              <a:rPr lang="en-US" b="true" sz="2451">
                <a:solidFill>
                  <a:srgbClr val="20562E"/>
                </a:solidFill>
                <a:latin typeface="Canva Sans Bold"/>
                <a:ea typeface="Canva Sans Bold"/>
                <a:cs typeface="Canva Sans Bold"/>
                <a:sym typeface="Canva Sans Bold"/>
              </a:rPr>
              <a:t> Smart Contracts Based Automated Payouts Crop Insurance (IJIRSET, 2025)</a:t>
            </a:r>
          </a:p>
          <a:p>
            <a:pPr algn="l">
              <a:lnSpc>
                <a:spcPts val="3898"/>
              </a:lnSpc>
            </a:pPr>
            <a:r>
              <a:rPr lang="en-US" sz="2451">
                <a:solidFill>
                  <a:srgbClr val="20562E"/>
                </a:solidFill>
                <a:latin typeface="Canva Sans"/>
                <a:ea typeface="Canva Sans"/>
                <a:cs typeface="Canva Sans"/>
                <a:sym typeface="Canva Sans"/>
              </a:rPr>
              <a:t>        </a:t>
            </a:r>
            <a:r>
              <a:rPr lang="en-US" b="true" sz="2451" u="sng">
                <a:solidFill>
                  <a:srgbClr val="20562E"/>
                </a:solidFill>
                <a:latin typeface="Canva Sans Bold"/>
                <a:ea typeface="Canva Sans Bold"/>
                <a:cs typeface="Canva Sans Bold"/>
                <a:sym typeface="Canva Sans Bold"/>
                <a:hlinkClick r:id="rId2" tooltip="https://www.ijirset.com/upload/2025/may/174_Smart.pdf"/>
              </a:rPr>
              <a:t>https://www.ijirset.com/upload/2025/may/174_Smart.pdf</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Description:</a:t>
            </a:r>
          </a:p>
          <a:p>
            <a:pPr algn="l">
              <a:lnSpc>
                <a:spcPts val="3898"/>
              </a:lnSpc>
            </a:pPr>
            <a:r>
              <a:rPr lang="en-US" sz="2451">
                <a:solidFill>
                  <a:srgbClr val="20562E"/>
                </a:solidFill>
                <a:latin typeface="Canva Sans"/>
                <a:ea typeface="Canva Sans"/>
                <a:cs typeface="Canva Sans"/>
                <a:sym typeface="Canva Sans"/>
              </a:rPr>
              <a:t>This study proposes a blockchain-based crop insurance system that automates claims using predefined rainfall thresholds.</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Methodology:</a:t>
            </a:r>
          </a:p>
          <a:p>
            <a:pPr algn="l">
              <a:lnSpc>
                <a:spcPts val="3898"/>
              </a:lnSpc>
            </a:pPr>
            <a:r>
              <a:rPr lang="en-US" sz="2451">
                <a:solidFill>
                  <a:srgbClr val="20562E"/>
                </a:solidFill>
                <a:latin typeface="Canva Sans"/>
                <a:ea typeface="Canva Sans"/>
                <a:cs typeface="Canva Sans"/>
                <a:sym typeface="Canva Sans"/>
              </a:rPr>
              <a:t>Smart contracts are programmed to monitor rainfall data and trigger automatic payouts when the specified condition is met.</a:t>
            </a:r>
          </a:p>
          <a:p>
            <a:pPr algn="l">
              <a:lnSpc>
                <a:spcPts val="3898"/>
              </a:lnSpc>
            </a:pPr>
          </a:p>
          <a:p>
            <a:pPr algn="l">
              <a:lnSpc>
                <a:spcPts val="3898"/>
              </a:lnSpc>
            </a:pPr>
            <a:r>
              <a:rPr lang="en-US" sz="2451" b="true">
                <a:solidFill>
                  <a:srgbClr val="20562E"/>
                </a:solidFill>
                <a:latin typeface="Canva Sans Bold"/>
                <a:ea typeface="Canva Sans Bold"/>
                <a:cs typeface="Canva Sans Bold"/>
                <a:sym typeface="Canva Sans Bold"/>
              </a:rPr>
              <a:t>Research Gap:</a:t>
            </a:r>
          </a:p>
          <a:p>
            <a:pPr algn="l">
              <a:lnSpc>
                <a:spcPts val="3898"/>
              </a:lnSpc>
            </a:pPr>
            <a:r>
              <a:rPr lang="en-US" sz="2451">
                <a:solidFill>
                  <a:srgbClr val="20562E"/>
                </a:solidFill>
                <a:latin typeface="Canva Sans"/>
                <a:ea typeface="Canva Sans"/>
                <a:cs typeface="Canva Sans"/>
                <a:sym typeface="Canva Sans"/>
              </a:rPr>
              <a:t>The system remains at prototype level and lacks security audits, performance benchmarking, and real-world deployment validation.</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451720" y="1864315"/>
            <a:ext cx="10725443" cy="1266395"/>
          </a:xfrm>
          <a:prstGeom prst="rect">
            <a:avLst/>
          </a:prstGeom>
        </p:spPr>
        <p:txBody>
          <a:bodyPr anchor="t" rtlCol="false" tIns="0" lIns="0" bIns="0" rIns="0">
            <a:spAutoFit/>
          </a:bodyPr>
          <a:lstStyle/>
          <a:p>
            <a:pPr algn="l">
              <a:lnSpc>
                <a:spcPts val="8909"/>
              </a:lnSpc>
            </a:pPr>
            <a:r>
              <a:rPr lang="en-US" sz="10734" b="true">
                <a:solidFill>
                  <a:srgbClr val="20562E"/>
                </a:solidFill>
                <a:latin typeface="Bricolage Grotesque Bold"/>
                <a:ea typeface="Bricolage Grotesque Bold"/>
                <a:cs typeface="Bricolage Grotesque Bold"/>
                <a:sym typeface="Bricolage Grotesque Bold"/>
              </a:rPr>
              <a:t>Objectives</a:t>
            </a:r>
          </a:p>
        </p:txBody>
      </p:sp>
      <p:grpSp>
        <p:nvGrpSpPr>
          <p:cNvPr name="Group 3" id="3"/>
          <p:cNvGrpSpPr/>
          <p:nvPr/>
        </p:nvGrpSpPr>
        <p:grpSpPr>
          <a:xfrm rot="0">
            <a:off x="1451720" y="3915324"/>
            <a:ext cx="8784048" cy="3759545"/>
            <a:chOff x="0" y="0"/>
            <a:chExt cx="11712064" cy="5012727"/>
          </a:xfrm>
        </p:grpSpPr>
        <p:grpSp>
          <p:nvGrpSpPr>
            <p:cNvPr name="Group 4" id="4"/>
            <p:cNvGrpSpPr/>
            <p:nvPr/>
          </p:nvGrpSpPr>
          <p:grpSpPr>
            <a:xfrm rot="-10800000">
              <a:off x="0" y="1498245"/>
              <a:ext cx="1019710" cy="745986"/>
              <a:chOff x="0" y="0"/>
              <a:chExt cx="270727" cy="198055"/>
            </a:xfrm>
          </p:grpSpPr>
          <p:sp>
            <p:nvSpPr>
              <p:cNvPr name="Freeform 5" id="5"/>
              <p:cNvSpPr/>
              <p:nvPr/>
            </p:nvSpPr>
            <p:spPr>
              <a:xfrm flipH="false" flipV="false" rot="0">
                <a:off x="0" y="0"/>
                <a:ext cx="270727" cy="198055"/>
              </a:xfrm>
              <a:custGeom>
                <a:avLst/>
                <a:gdLst/>
                <a:ahLst/>
                <a:cxnLst/>
                <a:rect r="r" b="b" t="t" l="l"/>
                <a:pathLst>
                  <a:path h="198055" w="270727">
                    <a:moveTo>
                      <a:pt x="99027" y="0"/>
                    </a:moveTo>
                    <a:lnTo>
                      <a:pt x="171700" y="0"/>
                    </a:lnTo>
                    <a:cubicBezTo>
                      <a:pt x="226391" y="0"/>
                      <a:pt x="270727" y="44336"/>
                      <a:pt x="270727" y="99027"/>
                    </a:cubicBezTo>
                    <a:lnTo>
                      <a:pt x="270727" y="99027"/>
                    </a:lnTo>
                    <a:cubicBezTo>
                      <a:pt x="270727" y="153719"/>
                      <a:pt x="226391" y="198055"/>
                      <a:pt x="171700" y="198055"/>
                    </a:cubicBezTo>
                    <a:lnTo>
                      <a:pt x="99027" y="198055"/>
                    </a:lnTo>
                    <a:cubicBezTo>
                      <a:pt x="44336" y="198055"/>
                      <a:pt x="0" y="153719"/>
                      <a:pt x="0" y="99027"/>
                    </a:cubicBezTo>
                    <a:lnTo>
                      <a:pt x="0" y="99027"/>
                    </a:lnTo>
                    <a:cubicBezTo>
                      <a:pt x="0" y="44336"/>
                      <a:pt x="44336" y="0"/>
                      <a:pt x="99027" y="0"/>
                    </a:cubicBezTo>
                    <a:close/>
                  </a:path>
                </a:pathLst>
              </a:custGeom>
              <a:solidFill>
                <a:srgbClr val="20562E"/>
              </a:solidFill>
            </p:spPr>
          </p:sp>
          <p:sp>
            <p:nvSpPr>
              <p:cNvPr name="TextBox 6" id="6"/>
              <p:cNvSpPr txBox="true"/>
              <p:nvPr/>
            </p:nvSpPr>
            <p:spPr>
              <a:xfrm>
                <a:off x="0" y="-38100"/>
                <a:ext cx="270727" cy="236155"/>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84081" y="1627617"/>
              <a:ext cx="851548" cy="487241"/>
            </a:xfrm>
            <a:prstGeom prst="rect">
              <a:avLst/>
            </a:prstGeom>
          </p:spPr>
          <p:txBody>
            <a:bodyPr anchor="t" rtlCol="false" tIns="0" lIns="0" bIns="0" rIns="0">
              <a:spAutoFit/>
            </a:bodyPr>
            <a:lstStyle/>
            <a:p>
              <a:pPr algn="ctr">
                <a:lnSpc>
                  <a:spcPts val="3064"/>
                </a:lnSpc>
              </a:pPr>
              <a:r>
                <a:rPr lang="en-US" b="true" sz="2451">
                  <a:solidFill>
                    <a:srgbClr val="F6E6CA"/>
                  </a:solidFill>
                  <a:latin typeface="Canva Sans Bold"/>
                  <a:ea typeface="Canva Sans Bold"/>
                  <a:cs typeface="Canva Sans Bold"/>
                  <a:sym typeface="Canva Sans Bold"/>
                </a:rPr>
                <a:t>02</a:t>
              </a:r>
            </a:p>
          </p:txBody>
        </p:sp>
        <p:sp>
          <p:nvSpPr>
            <p:cNvPr name="TextBox 8" id="8"/>
            <p:cNvSpPr txBox="true"/>
            <p:nvPr/>
          </p:nvSpPr>
          <p:spPr>
            <a:xfrm rot="0">
              <a:off x="1272405" y="1498245"/>
              <a:ext cx="10337108" cy="1503241"/>
            </a:xfrm>
            <a:prstGeom prst="rect">
              <a:avLst/>
            </a:prstGeom>
          </p:spPr>
          <p:txBody>
            <a:bodyPr anchor="t" rtlCol="false" tIns="0" lIns="0" bIns="0" rIns="0">
              <a:spAutoFit/>
            </a:bodyPr>
            <a:lstStyle/>
            <a:p>
              <a:pPr algn="just">
                <a:lnSpc>
                  <a:spcPts val="3064"/>
                </a:lnSpc>
              </a:pPr>
              <a:r>
                <a:rPr lang="en-US" sz="2451">
                  <a:solidFill>
                    <a:srgbClr val="20562E"/>
                  </a:solidFill>
                  <a:latin typeface="Canva Sans"/>
                  <a:ea typeface="Canva Sans"/>
                  <a:cs typeface="Canva Sans"/>
                  <a:sym typeface="Canva Sans"/>
                </a:rPr>
                <a:t>T</a:t>
              </a:r>
              <a:r>
                <a:rPr lang="en-US" sz="2451">
                  <a:solidFill>
                    <a:srgbClr val="20562E"/>
                  </a:solidFill>
                  <a:latin typeface="Canva Sans"/>
                  <a:ea typeface="Canva Sans"/>
                  <a:cs typeface="Canva Sans"/>
                  <a:sym typeface="Canva Sans"/>
                </a:rPr>
                <a:t>o automate policy execution and claim settlement using smart contracts. To reduce fraud, delays, and manual intervention</a:t>
              </a:r>
            </a:p>
          </p:txBody>
        </p:sp>
        <p:sp>
          <p:nvSpPr>
            <p:cNvPr name="TextBox 9" id="9"/>
            <p:cNvSpPr txBox="true"/>
            <p:nvPr/>
          </p:nvSpPr>
          <p:spPr>
            <a:xfrm rot="0">
              <a:off x="1272405" y="0"/>
              <a:ext cx="8568116" cy="995241"/>
            </a:xfrm>
            <a:prstGeom prst="rect">
              <a:avLst/>
            </a:prstGeom>
          </p:spPr>
          <p:txBody>
            <a:bodyPr anchor="t" rtlCol="false" tIns="0" lIns="0" bIns="0" rIns="0">
              <a:spAutoFit/>
            </a:bodyPr>
            <a:lstStyle/>
            <a:p>
              <a:pPr algn="just">
                <a:lnSpc>
                  <a:spcPts val="3064"/>
                </a:lnSpc>
              </a:pPr>
              <a:r>
                <a:rPr lang="en-US" sz="2451">
                  <a:solidFill>
                    <a:srgbClr val="20562E"/>
                  </a:solidFill>
                  <a:latin typeface="Canva Sans"/>
                  <a:ea typeface="Canva Sans"/>
                  <a:cs typeface="Canva Sans"/>
                  <a:sym typeface="Canva Sans"/>
                </a:rPr>
                <a:t>T</a:t>
              </a:r>
              <a:r>
                <a:rPr lang="en-US" sz="2451">
                  <a:solidFill>
                    <a:srgbClr val="20562E"/>
                  </a:solidFill>
                  <a:latin typeface="Canva Sans"/>
                  <a:ea typeface="Canva Sans"/>
                  <a:cs typeface="Canva Sans"/>
                  <a:sym typeface="Canva Sans"/>
                </a:rPr>
                <a:t>o design a blockchain-based agri-insurance framework</a:t>
              </a:r>
            </a:p>
          </p:txBody>
        </p:sp>
        <p:grpSp>
          <p:nvGrpSpPr>
            <p:cNvPr name="Group 10" id="10"/>
            <p:cNvGrpSpPr/>
            <p:nvPr/>
          </p:nvGrpSpPr>
          <p:grpSpPr>
            <a:xfrm rot="-10800000">
              <a:off x="0" y="0"/>
              <a:ext cx="1019710" cy="745986"/>
              <a:chOff x="0" y="0"/>
              <a:chExt cx="270727" cy="198055"/>
            </a:xfrm>
          </p:grpSpPr>
          <p:sp>
            <p:nvSpPr>
              <p:cNvPr name="Freeform 11" id="11"/>
              <p:cNvSpPr/>
              <p:nvPr/>
            </p:nvSpPr>
            <p:spPr>
              <a:xfrm flipH="false" flipV="false" rot="0">
                <a:off x="0" y="0"/>
                <a:ext cx="270727" cy="198055"/>
              </a:xfrm>
              <a:custGeom>
                <a:avLst/>
                <a:gdLst/>
                <a:ahLst/>
                <a:cxnLst/>
                <a:rect r="r" b="b" t="t" l="l"/>
                <a:pathLst>
                  <a:path h="198055" w="270727">
                    <a:moveTo>
                      <a:pt x="99027" y="0"/>
                    </a:moveTo>
                    <a:lnTo>
                      <a:pt x="171700" y="0"/>
                    </a:lnTo>
                    <a:cubicBezTo>
                      <a:pt x="226391" y="0"/>
                      <a:pt x="270727" y="44336"/>
                      <a:pt x="270727" y="99027"/>
                    </a:cubicBezTo>
                    <a:lnTo>
                      <a:pt x="270727" y="99027"/>
                    </a:lnTo>
                    <a:cubicBezTo>
                      <a:pt x="270727" y="153719"/>
                      <a:pt x="226391" y="198055"/>
                      <a:pt x="171700" y="198055"/>
                    </a:cubicBezTo>
                    <a:lnTo>
                      <a:pt x="99027" y="198055"/>
                    </a:lnTo>
                    <a:cubicBezTo>
                      <a:pt x="44336" y="198055"/>
                      <a:pt x="0" y="153719"/>
                      <a:pt x="0" y="99027"/>
                    </a:cubicBezTo>
                    <a:lnTo>
                      <a:pt x="0" y="99027"/>
                    </a:lnTo>
                    <a:cubicBezTo>
                      <a:pt x="0" y="44336"/>
                      <a:pt x="44336" y="0"/>
                      <a:pt x="99027" y="0"/>
                    </a:cubicBezTo>
                    <a:close/>
                  </a:path>
                </a:pathLst>
              </a:custGeom>
              <a:solidFill>
                <a:srgbClr val="20562E"/>
              </a:solidFill>
            </p:spPr>
          </p:sp>
          <p:sp>
            <p:nvSpPr>
              <p:cNvPr name="TextBox 12" id="12"/>
              <p:cNvSpPr txBox="true"/>
              <p:nvPr/>
            </p:nvSpPr>
            <p:spPr>
              <a:xfrm>
                <a:off x="0" y="-38100"/>
                <a:ext cx="270727" cy="23615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84081" y="129372"/>
              <a:ext cx="851548" cy="487241"/>
            </a:xfrm>
            <a:prstGeom prst="rect">
              <a:avLst/>
            </a:prstGeom>
          </p:spPr>
          <p:txBody>
            <a:bodyPr anchor="t" rtlCol="false" tIns="0" lIns="0" bIns="0" rIns="0">
              <a:spAutoFit/>
            </a:bodyPr>
            <a:lstStyle/>
            <a:p>
              <a:pPr algn="ctr">
                <a:lnSpc>
                  <a:spcPts val="3064"/>
                </a:lnSpc>
              </a:pPr>
              <a:r>
                <a:rPr lang="en-US" b="true" sz="2451">
                  <a:solidFill>
                    <a:srgbClr val="F6E6CA"/>
                  </a:solidFill>
                  <a:latin typeface="Canva Sans Bold"/>
                  <a:ea typeface="Canva Sans Bold"/>
                  <a:cs typeface="Canva Sans Bold"/>
                  <a:sym typeface="Canva Sans Bold"/>
                </a:rPr>
                <a:t>01</a:t>
              </a:r>
            </a:p>
          </p:txBody>
        </p:sp>
        <p:sp>
          <p:nvSpPr>
            <p:cNvPr name="TextBox 14" id="14"/>
            <p:cNvSpPr txBox="true"/>
            <p:nvPr/>
          </p:nvSpPr>
          <p:spPr>
            <a:xfrm rot="0">
              <a:off x="1272405" y="3509486"/>
              <a:ext cx="10439659" cy="1503241"/>
            </a:xfrm>
            <a:prstGeom prst="rect">
              <a:avLst/>
            </a:prstGeom>
          </p:spPr>
          <p:txBody>
            <a:bodyPr anchor="t" rtlCol="false" tIns="0" lIns="0" bIns="0" rIns="0">
              <a:spAutoFit/>
            </a:bodyPr>
            <a:lstStyle/>
            <a:p>
              <a:pPr algn="just">
                <a:lnSpc>
                  <a:spcPts val="3064"/>
                </a:lnSpc>
              </a:pPr>
              <a:r>
                <a:rPr lang="en-US" sz="2451">
                  <a:solidFill>
                    <a:srgbClr val="20562E"/>
                  </a:solidFill>
                  <a:latin typeface="Canva Sans"/>
                  <a:ea typeface="Canva Sans"/>
                  <a:cs typeface="Canva Sans"/>
                  <a:sym typeface="Canva Sans"/>
                </a:rPr>
                <a:t>T</a:t>
              </a:r>
              <a:r>
                <a:rPr lang="en-US" sz="2451">
                  <a:solidFill>
                    <a:srgbClr val="20562E"/>
                  </a:solidFill>
                  <a:latin typeface="Canva Sans"/>
                  <a:ea typeface="Canva Sans"/>
                  <a:cs typeface="Canva Sans"/>
                  <a:sym typeface="Canva Sans"/>
                </a:rPr>
                <a:t>o integrate oracle-based external data for objective claim decisions. To enhance transparency and trust among stakeholders</a:t>
              </a:r>
            </a:p>
          </p:txBody>
        </p:sp>
        <p:grpSp>
          <p:nvGrpSpPr>
            <p:cNvPr name="Group 15" id="15"/>
            <p:cNvGrpSpPr/>
            <p:nvPr/>
          </p:nvGrpSpPr>
          <p:grpSpPr>
            <a:xfrm rot="-10800000">
              <a:off x="0" y="3509486"/>
              <a:ext cx="1019710" cy="745986"/>
              <a:chOff x="0" y="0"/>
              <a:chExt cx="270727" cy="198055"/>
            </a:xfrm>
          </p:grpSpPr>
          <p:sp>
            <p:nvSpPr>
              <p:cNvPr name="Freeform 16" id="16"/>
              <p:cNvSpPr/>
              <p:nvPr/>
            </p:nvSpPr>
            <p:spPr>
              <a:xfrm flipH="false" flipV="false" rot="0">
                <a:off x="0" y="0"/>
                <a:ext cx="270727" cy="198055"/>
              </a:xfrm>
              <a:custGeom>
                <a:avLst/>
                <a:gdLst/>
                <a:ahLst/>
                <a:cxnLst/>
                <a:rect r="r" b="b" t="t" l="l"/>
                <a:pathLst>
                  <a:path h="198055" w="270727">
                    <a:moveTo>
                      <a:pt x="99027" y="0"/>
                    </a:moveTo>
                    <a:lnTo>
                      <a:pt x="171700" y="0"/>
                    </a:lnTo>
                    <a:cubicBezTo>
                      <a:pt x="226391" y="0"/>
                      <a:pt x="270727" y="44336"/>
                      <a:pt x="270727" y="99027"/>
                    </a:cubicBezTo>
                    <a:lnTo>
                      <a:pt x="270727" y="99027"/>
                    </a:lnTo>
                    <a:cubicBezTo>
                      <a:pt x="270727" y="153719"/>
                      <a:pt x="226391" y="198055"/>
                      <a:pt x="171700" y="198055"/>
                    </a:cubicBezTo>
                    <a:lnTo>
                      <a:pt x="99027" y="198055"/>
                    </a:lnTo>
                    <a:cubicBezTo>
                      <a:pt x="44336" y="198055"/>
                      <a:pt x="0" y="153719"/>
                      <a:pt x="0" y="99027"/>
                    </a:cubicBezTo>
                    <a:lnTo>
                      <a:pt x="0" y="99027"/>
                    </a:lnTo>
                    <a:cubicBezTo>
                      <a:pt x="0" y="44336"/>
                      <a:pt x="44336" y="0"/>
                      <a:pt x="99027" y="0"/>
                    </a:cubicBezTo>
                    <a:close/>
                  </a:path>
                </a:pathLst>
              </a:custGeom>
              <a:solidFill>
                <a:srgbClr val="20562E"/>
              </a:solidFill>
            </p:spPr>
          </p:sp>
          <p:sp>
            <p:nvSpPr>
              <p:cNvPr name="TextBox 17" id="17"/>
              <p:cNvSpPr txBox="true"/>
              <p:nvPr/>
            </p:nvSpPr>
            <p:spPr>
              <a:xfrm>
                <a:off x="0" y="-38100"/>
                <a:ext cx="270727" cy="236155"/>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84081" y="3638858"/>
              <a:ext cx="851548" cy="487241"/>
            </a:xfrm>
            <a:prstGeom prst="rect">
              <a:avLst/>
            </a:prstGeom>
          </p:spPr>
          <p:txBody>
            <a:bodyPr anchor="t" rtlCol="false" tIns="0" lIns="0" bIns="0" rIns="0">
              <a:spAutoFit/>
            </a:bodyPr>
            <a:lstStyle/>
            <a:p>
              <a:pPr algn="ctr">
                <a:lnSpc>
                  <a:spcPts val="3064"/>
                </a:lnSpc>
              </a:pPr>
              <a:r>
                <a:rPr lang="en-US" b="true" sz="2451">
                  <a:solidFill>
                    <a:srgbClr val="F6E6CA"/>
                  </a:solidFill>
                  <a:latin typeface="Canva Sans Bold"/>
                  <a:ea typeface="Canva Sans Bold"/>
                  <a:cs typeface="Canva Sans Bold"/>
                  <a:sym typeface="Canva Sans Bold"/>
                </a:rPr>
                <a:t>03</a:t>
              </a: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490176" y="1751636"/>
            <a:ext cx="5759834" cy="1851414"/>
          </a:xfrm>
          <a:prstGeom prst="rect">
            <a:avLst/>
          </a:prstGeom>
        </p:spPr>
        <p:txBody>
          <a:bodyPr anchor="t" rtlCol="false" tIns="0" lIns="0" bIns="0" rIns="0">
            <a:spAutoFit/>
          </a:bodyPr>
          <a:lstStyle/>
          <a:p>
            <a:pPr algn="l">
              <a:lnSpc>
                <a:spcPts val="15028"/>
              </a:lnSpc>
              <a:spcBef>
                <a:spcPct val="0"/>
              </a:spcBef>
            </a:pPr>
            <a:r>
              <a:rPr lang="en-US" b="true" sz="10734">
                <a:solidFill>
                  <a:srgbClr val="20562E"/>
                </a:solidFill>
                <a:latin typeface="Bricolage Grotesque Bold"/>
                <a:ea typeface="Bricolage Grotesque Bold"/>
                <a:cs typeface="Bricolage Grotesque Bold"/>
                <a:sym typeface="Bricolage Grotesque Bold"/>
              </a:rPr>
              <a:t>Abstract</a:t>
            </a:r>
          </a:p>
        </p:txBody>
      </p:sp>
      <p:sp>
        <p:nvSpPr>
          <p:cNvPr name="TextBox 3" id="3"/>
          <p:cNvSpPr txBox="true"/>
          <p:nvPr/>
        </p:nvSpPr>
        <p:spPr>
          <a:xfrm rot="0">
            <a:off x="1490176" y="3948205"/>
            <a:ext cx="11990117" cy="3279140"/>
          </a:xfrm>
          <a:prstGeom prst="rect">
            <a:avLst/>
          </a:prstGeom>
        </p:spPr>
        <p:txBody>
          <a:bodyPr anchor="t" rtlCol="false" tIns="0" lIns="0" bIns="0" rIns="0">
            <a:spAutoFit/>
          </a:bodyPr>
          <a:lstStyle/>
          <a:p>
            <a:pPr algn="just">
              <a:lnSpc>
                <a:spcPts val="3250"/>
              </a:lnSpc>
            </a:pPr>
            <a:r>
              <a:rPr lang="en-US" sz="2600">
                <a:solidFill>
                  <a:srgbClr val="20562E"/>
                </a:solidFill>
                <a:latin typeface="Canva Sans"/>
                <a:ea typeface="Canva Sans"/>
                <a:cs typeface="Canva Sans"/>
                <a:sym typeface="Canva Sans"/>
              </a:rPr>
              <a:t>This project p</a:t>
            </a:r>
            <a:r>
              <a:rPr lang="en-US" sz="2600">
                <a:solidFill>
                  <a:srgbClr val="20562E"/>
                </a:solidFill>
                <a:latin typeface="Canva Sans"/>
                <a:ea typeface="Canva Sans"/>
                <a:cs typeface="Canva Sans"/>
                <a:sym typeface="Canva Sans"/>
              </a:rPr>
              <a:t>roposes a blockchain-based agri-insurance system to address issues such as delayed claim settlement, lack of transparency, and manual intervention in traditional crop insurance. Smart contracts are used to automate policy execution and claim processing, while an oracle mechanism provides external data such as rainfall information for decision making. Blockchain ensures secure, transparent, and tamper-proof record keeping. The proposed system aims to improve trust, efficiency, and reliability in agricultural insurance services.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413264" y="2332831"/>
            <a:ext cx="12190911" cy="1266395"/>
          </a:xfrm>
          <a:prstGeom prst="rect">
            <a:avLst/>
          </a:prstGeom>
        </p:spPr>
        <p:txBody>
          <a:bodyPr anchor="t" rtlCol="false" tIns="0" lIns="0" bIns="0" rIns="0">
            <a:spAutoFit/>
          </a:bodyPr>
          <a:lstStyle/>
          <a:p>
            <a:pPr algn="l">
              <a:lnSpc>
                <a:spcPts val="8909"/>
              </a:lnSpc>
            </a:pPr>
            <a:r>
              <a:rPr lang="en-US" sz="10734" b="true">
                <a:solidFill>
                  <a:srgbClr val="20562E"/>
                </a:solidFill>
                <a:latin typeface="Bricolage Grotesque Bold"/>
                <a:ea typeface="Bricolage Grotesque Bold"/>
                <a:cs typeface="Bricolage Grotesque Bold"/>
                <a:sym typeface="Bricolage Grotesque Bold"/>
              </a:rPr>
              <a:t>Proposed Solution</a:t>
            </a:r>
          </a:p>
        </p:txBody>
      </p:sp>
      <p:sp>
        <p:nvSpPr>
          <p:cNvPr name="TextBox 3" id="3"/>
          <p:cNvSpPr txBox="true"/>
          <p:nvPr/>
        </p:nvSpPr>
        <p:spPr>
          <a:xfrm rot="0">
            <a:off x="1413264" y="3965931"/>
            <a:ext cx="10581743" cy="2869565"/>
          </a:xfrm>
          <a:prstGeom prst="rect">
            <a:avLst/>
          </a:prstGeom>
        </p:spPr>
        <p:txBody>
          <a:bodyPr anchor="t" rtlCol="false" tIns="0" lIns="0" bIns="0" rIns="0">
            <a:spAutoFit/>
          </a:bodyPr>
          <a:lstStyle/>
          <a:p>
            <a:pPr algn="just">
              <a:lnSpc>
                <a:spcPts val="3250"/>
              </a:lnSpc>
            </a:pPr>
            <a:r>
              <a:rPr lang="en-US" sz="2600">
                <a:solidFill>
                  <a:srgbClr val="20562E"/>
                </a:solidFill>
                <a:latin typeface="Canva Sans"/>
                <a:ea typeface="Canva Sans"/>
                <a:cs typeface="Canva Sans"/>
                <a:sym typeface="Canva Sans"/>
              </a:rPr>
              <a:t>Th</a:t>
            </a:r>
            <a:r>
              <a:rPr lang="en-US" sz="2600">
                <a:solidFill>
                  <a:srgbClr val="20562E"/>
                </a:solidFill>
                <a:latin typeface="Canva Sans"/>
                <a:ea typeface="Canva Sans"/>
                <a:cs typeface="Canva Sans"/>
                <a:sym typeface="Canva Sans"/>
              </a:rPr>
              <a:t>e proposed system uses blockchain technology to store insurance policies and transactions in an immutable manner. Smart contracts automatically evaluate insurance conditions and trigger claim settlements based on data received from a trusted oracle, such as rainfall information. This approach ensures secure, transparent, and efficient insurance processing with minimal human involvement.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503489" y="1390650"/>
            <a:ext cx="13915532" cy="1266422"/>
          </a:xfrm>
          <a:prstGeom prst="rect">
            <a:avLst/>
          </a:prstGeom>
        </p:spPr>
        <p:txBody>
          <a:bodyPr anchor="t" rtlCol="false" tIns="0" lIns="0" bIns="0" rIns="0">
            <a:spAutoFit/>
          </a:bodyPr>
          <a:lstStyle/>
          <a:p>
            <a:pPr algn="l">
              <a:lnSpc>
                <a:spcPts val="8909"/>
              </a:lnSpc>
            </a:pPr>
            <a:r>
              <a:rPr lang="en-US" sz="10734" b="true">
                <a:solidFill>
                  <a:srgbClr val="20562E"/>
                </a:solidFill>
                <a:latin typeface="Bricolage Grotesque Bold"/>
                <a:ea typeface="Bricolage Grotesque Bold"/>
                <a:cs typeface="Bricolage Grotesque Bold"/>
                <a:sym typeface="Bricolage Grotesque Bold"/>
              </a:rPr>
              <a:t>Sys</a:t>
            </a:r>
            <a:r>
              <a:rPr lang="en-US" sz="10734" b="true">
                <a:solidFill>
                  <a:srgbClr val="20562E"/>
                </a:solidFill>
                <a:latin typeface="Bricolage Grotesque Bold"/>
                <a:ea typeface="Bricolage Grotesque Bold"/>
                <a:cs typeface="Bricolage Grotesque Bold"/>
                <a:sym typeface="Bricolage Grotesque Bold"/>
              </a:rPr>
              <a:t>tem Architecture</a:t>
            </a:r>
          </a:p>
        </p:txBody>
      </p:sp>
      <p:sp>
        <p:nvSpPr>
          <p:cNvPr name="Freeform 3" id="3"/>
          <p:cNvSpPr/>
          <p:nvPr/>
        </p:nvSpPr>
        <p:spPr>
          <a:xfrm flipH="false" flipV="false" rot="0">
            <a:off x="1503489" y="3114835"/>
            <a:ext cx="15281022" cy="3012583"/>
          </a:xfrm>
          <a:custGeom>
            <a:avLst/>
            <a:gdLst/>
            <a:ahLst/>
            <a:cxnLst/>
            <a:rect r="r" b="b" t="t" l="l"/>
            <a:pathLst>
              <a:path h="3012583" w="15281022">
                <a:moveTo>
                  <a:pt x="0" y="0"/>
                </a:moveTo>
                <a:lnTo>
                  <a:pt x="15281022" y="0"/>
                </a:lnTo>
                <a:lnTo>
                  <a:pt x="15281022" y="3012583"/>
                </a:lnTo>
                <a:lnTo>
                  <a:pt x="0" y="3012583"/>
                </a:lnTo>
                <a:lnTo>
                  <a:pt x="0" y="0"/>
                </a:lnTo>
                <a:close/>
              </a:path>
            </a:pathLst>
          </a:custGeom>
          <a:blipFill>
            <a:blip r:embed="rId2"/>
            <a:stretch>
              <a:fillRect l="0" t="0" r="0" b="0"/>
            </a:stretch>
          </a:blipFill>
        </p:spPr>
      </p:sp>
      <p:grpSp>
        <p:nvGrpSpPr>
          <p:cNvPr name="Group 4" id="4"/>
          <p:cNvGrpSpPr/>
          <p:nvPr/>
        </p:nvGrpSpPr>
        <p:grpSpPr>
          <a:xfrm rot="0">
            <a:off x="1379285" y="6532458"/>
            <a:ext cx="7316629" cy="475229"/>
            <a:chOff x="0" y="0"/>
            <a:chExt cx="9755506" cy="633638"/>
          </a:xfrm>
        </p:grpSpPr>
        <p:grpSp>
          <p:nvGrpSpPr>
            <p:cNvPr name="Group 5" id="5"/>
            <p:cNvGrpSpPr/>
            <p:nvPr/>
          </p:nvGrpSpPr>
          <p:grpSpPr>
            <a:xfrm rot="-10800000">
              <a:off x="0" y="0"/>
              <a:ext cx="9755506" cy="633638"/>
              <a:chOff x="0" y="0"/>
              <a:chExt cx="2590027" cy="168227"/>
            </a:xfrm>
          </p:grpSpPr>
          <p:sp>
            <p:nvSpPr>
              <p:cNvPr name="Freeform 6" id="6"/>
              <p:cNvSpPr/>
              <p:nvPr/>
            </p:nvSpPr>
            <p:spPr>
              <a:xfrm flipH="false" flipV="false" rot="0">
                <a:off x="0" y="0"/>
                <a:ext cx="2590027" cy="168227"/>
              </a:xfrm>
              <a:custGeom>
                <a:avLst/>
                <a:gdLst/>
                <a:ahLst/>
                <a:cxnLst/>
                <a:rect r="r" b="b" t="t" l="l"/>
                <a:pathLst>
                  <a:path h="168227" w="2590027">
                    <a:moveTo>
                      <a:pt x="84114" y="0"/>
                    </a:moveTo>
                    <a:lnTo>
                      <a:pt x="2505914" y="0"/>
                    </a:lnTo>
                    <a:cubicBezTo>
                      <a:pt x="2528222" y="0"/>
                      <a:pt x="2549617" y="8862"/>
                      <a:pt x="2565391" y="24636"/>
                    </a:cubicBezTo>
                    <a:cubicBezTo>
                      <a:pt x="2581166" y="40411"/>
                      <a:pt x="2590027" y="61805"/>
                      <a:pt x="2590027" y="84114"/>
                    </a:cubicBezTo>
                    <a:lnTo>
                      <a:pt x="2590027" y="84114"/>
                    </a:lnTo>
                    <a:cubicBezTo>
                      <a:pt x="2590027" y="130568"/>
                      <a:pt x="2552368" y="168227"/>
                      <a:pt x="2505914"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7" id="7"/>
              <p:cNvSpPr txBox="true"/>
              <p:nvPr/>
            </p:nvSpPr>
            <p:spPr>
              <a:xfrm>
                <a:off x="0" y="-38100"/>
                <a:ext cx="2590027" cy="206327"/>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219555" y="73198"/>
              <a:ext cx="7566115" cy="487241"/>
            </a:xfrm>
            <a:prstGeom prst="rect">
              <a:avLst/>
            </a:prstGeom>
          </p:spPr>
          <p:txBody>
            <a:bodyPr anchor="t" rtlCol="false" tIns="0" lIns="0" bIns="0" rIns="0">
              <a:spAutoFit/>
            </a:bodyPr>
            <a:lstStyle/>
            <a:p>
              <a:pPr algn="ctr" marL="529352" indent="-264676" lvl="1">
                <a:lnSpc>
                  <a:spcPts val="3064"/>
                </a:lnSpc>
                <a:buAutoNum type="arabicPeriod" startAt="1"/>
              </a:pPr>
              <a:r>
                <a:rPr lang="en-US" b="true" sz="2451">
                  <a:solidFill>
                    <a:srgbClr val="20562E"/>
                  </a:solidFill>
                  <a:latin typeface="Canva Sans Bold"/>
                  <a:ea typeface="Canva Sans Bold"/>
                  <a:cs typeface="Canva Sans Bold"/>
                  <a:sym typeface="Canva Sans Bold"/>
                </a:rPr>
                <a:t>Farmer registers &amp; buys policy</a:t>
              </a:r>
            </a:p>
          </p:txBody>
        </p:sp>
      </p:grpSp>
      <p:grpSp>
        <p:nvGrpSpPr>
          <p:cNvPr name="Group 9" id="9"/>
          <p:cNvGrpSpPr/>
          <p:nvPr/>
        </p:nvGrpSpPr>
        <p:grpSpPr>
          <a:xfrm rot="0">
            <a:off x="1379285" y="7293436"/>
            <a:ext cx="7316629" cy="475229"/>
            <a:chOff x="0" y="0"/>
            <a:chExt cx="9755506" cy="633638"/>
          </a:xfrm>
        </p:grpSpPr>
        <p:grpSp>
          <p:nvGrpSpPr>
            <p:cNvPr name="Group 10" id="10"/>
            <p:cNvGrpSpPr/>
            <p:nvPr/>
          </p:nvGrpSpPr>
          <p:grpSpPr>
            <a:xfrm rot="-10800000">
              <a:off x="0" y="0"/>
              <a:ext cx="9755506" cy="633638"/>
              <a:chOff x="0" y="0"/>
              <a:chExt cx="2590027" cy="168227"/>
            </a:xfrm>
          </p:grpSpPr>
          <p:sp>
            <p:nvSpPr>
              <p:cNvPr name="Freeform 11" id="11"/>
              <p:cNvSpPr/>
              <p:nvPr/>
            </p:nvSpPr>
            <p:spPr>
              <a:xfrm flipH="false" flipV="false" rot="0">
                <a:off x="0" y="0"/>
                <a:ext cx="2590027" cy="168227"/>
              </a:xfrm>
              <a:custGeom>
                <a:avLst/>
                <a:gdLst/>
                <a:ahLst/>
                <a:cxnLst/>
                <a:rect r="r" b="b" t="t" l="l"/>
                <a:pathLst>
                  <a:path h="168227" w="2590027">
                    <a:moveTo>
                      <a:pt x="84114" y="0"/>
                    </a:moveTo>
                    <a:lnTo>
                      <a:pt x="2505914" y="0"/>
                    </a:lnTo>
                    <a:cubicBezTo>
                      <a:pt x="2528222" y="0"/>
                      <a:pt x="2549617" y="8862"/>
                      <a:pt x="2565391" y="24636"/>
                    </a:cubicBezTo>
                    <a:cubicBezTo>
                      <a:pt x="2581166" y="40411"/>
                      <a:pt x="2590027" y="61805"/>
                      <a:pt x="2590027" y="84114"/>
                    </a:cubicBezTo>
                    <a:lnTo>
                      <a:pt x="2590027" y="84114"/>
                    </a:lnTo>
                    <a:cubicBezTo>
                      <a:pt x="2590027" y="130568"/>
                      <a:pt x="2552368" y="168227"/>
                      <a:pt x="2505914"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12" id="12"/>
              <p:cNvSpPr txBox="true"/>
              <p:nvPr/>
            </p:nvSpPr>
            <p:spPr>
              <a:xfrm>
                <a:off x="0" y="-38100"/>
                <a:ext cx="2590027" cy="206327"/>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219555" y="73198"/>
              <a:ext cx="8659235" cy="487241"/>
            </a:xfrm>
            <a:prstGeom prst="rect">
              <a:avLst/>
            </a:prstGeom>
          </p:spPr>
          <p:txBody>
            <a:bodyPr anchor="t" rtlCol="false" tIns="0" lIns="0" bIns="0" rIns="0">
              <a:spAutoFit/>
            </a:bodyPr>
            <a:lstStyle/>
            <a:p>
              <a:pPr algn="ctr" marL="529352" indent="-264676" lvl="1">
                <a:lnSpc>
                  <a:spcPts val="3064"/>
                </a:lnSpc>
                <a:buAutoNum type="arabicPeriod" startAt="1"/>
              </a:pPr>
              <a:r>
                <a:rPr lang="en-US" b="true" sz="2451">
                  <a:solidFill>
                    <a:srgbClr val="20562E"/>
                  </a:solidFill>
                  <a:latin typeface="Canva Sans Bold"/>
                  <a:ea typeface="Canva Sans Bold"/>
                  <a:cs typeface="Canva Sans Bold"/>
                  <a:sym typeface="Canva Sans Bold"/>
                </a:rPr>
                <a:t>Smart contract stores policy details</a:t>
              </a:r>
            </a:p>
          </p:txBody>
        </p:sp>
      </p:grpSp>
      <p:grpSp>
        <p:nvGrpSpPr>
          <p:cNvPr name="Group 14" id="14"/>
          <p:cNvGrpSpPr/>
          <p:nvPr/>
        </p:nvGrpSpPr>
        <p:grpSpPr>
          <a:xfrm rot="0">
            <a:off x="1379285" y="8054415"/>
            <a:ext cx="7316629" cy="475229"/>
            <a:chOff x="0" y="0"/>
            <a:chExt cx="9755506" cy="633638"/>
          </a:xfrm>
        </p:grpSpPr>
        <p:grpSp>
          <p:nvGrpSpPr>
            <p:cNvPr name="Group 15" id="15"/>
            <p:cNvGrpSpPr/>
            <p:nvPr/>
          </p:nvGrpSpPr>
          <p:grpSpPr>
            <a:xfrm rot="-10800000">
              <a:off x="0" y="0"/>
              <a:ext cx="9755506" cy="633638"/>
              <a:chOff x="0" y="0"/>
              <a:chExt cx="2590027" cy="168227"/>
            </a:xfrm>
          </p:grpSpPr>
          <p:sp>
            <p:nvSpPr>
              <p:cNvPr name="Freeform 16" id="16"/>
              <p:cNvSpPr/>
              <p:nvPr/>
            </p:nvSpPr>
            <p:spPr>
              <a:xfrm flipH="false" flipV="false" rot="0">
                <a:off x="0" y="0"/>
                <a:ext cx="2590027" cy="168227"/>
              </a:xfrm>
              <a:custGeom>
                <a:avLst/>
                <a:gdLst/>
                <a:ahLst/>
                <a:cxnLst/>
                <a:rect r="r" b="b" t="t" l="l"/>
                <a:pathLst>
                  <a:path h="168227" w="2590027">
                    <a:moveTo>
                      <a:pt x="84114" y="0"/>
                    </a:moveTo>
                    <a:lnTo>
                      <a:pt x="2505914" y="0"/>
                    </a:lnTo>
                    <a:cubicBezTo>
                      <a:pt x="2528222" y="0"/>
                      <a:pt x="2549617" y="8862"/>
                      <a:pt x="2565391" y="24636"/>
                    </a:cubicBezTo>
                    <a:cubicBezTo>
                      <a:pt x="2581166" y="40411"/>
                      <a:pt x="2590027" y="61805"/>
                      <a:pt x="2590027" y="84114"/>
                    </a:cubicBezTo>
                    <a:lnTo>
                      <a:pt x="2590027" y="84114"/>
                    </a:lnTo>
                    <a:cubicBezTo>
                      <a:pt x="2590027" y="130568"/>
                      <a:pt x="2552368" y="168227"/>
                      <a:pt x="2505914"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17" id="17"/>
              <p:cNvSpPr txBox="true"/>
              <p:nvPr/>
            </p:nvSpPr>
            <p:spPr>
              <a:xfrm>
                <a:off x="0" y="-38100"/>
                <a:ext cx="2590027" cy="206327"/>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219555" y="73198"/>
              <a:ext cx="6915449" cy="487241"/>
            </a:xfrm>
            <a:prstGeom prst="rect">
              <a:avLst/>
            </a:prstGeom>
          </p:spPr>
          <p:txBody>
            <a:bodyPr anchor="t" rtlCol="false" tIns="0" lIns="0" bIns="0" rIns="0">
              <a:spAutoFit/>
            </a:bodyPr>
            <a:lstStyle/>
            <a:p>
              <a:pPr algn="ctr" marL="529352" indent="-264676" lvl="1">
                <a:lnSpc>
                  <a:spcPts val="3064"/>
                </a:lnSpc>
                <a:buAutoNum type="arabicPeriod" startAt="1"/>
              </a:pPr>
              <a:r>
                <a:rPr lang="en-US" b="true" sz="2451">
                  <a:solidFill>
                    <a:srgbClr val="20562E"/>
                  </a:solidFill>
                  <a:latin typeface="Canva Sans Bold"/>
                  <a:ea typeface="Canva Sans Bold"/>
                  <a:cs typeface="Canva Sans Bold"/>
                  <a:sym typeface="Canva Sans Bold"/>
                </a:rPr>
                <a:t>Oracle fetches rainfall data</a:t>
              </a:r>
            </a:p>
          </p:txBody>
        </p:sp>
      </p:grpSp>
      <p:grpSp>
        <p:nvGrpSpPr>
          <p:cNvPr name="Group 19" id="19"/>
          <p:cNvGrpSpPr/>
          <p:nvPr/>
        </p:nvGrpSpPr>
        <p:grpSpPr>
          <a:xfrm rot="0">
            <a:off x="9375410" y="6532458"/>
            <a:ext cx="7316629" cy="475229"/>
            <a:chOff x="0" y="0"/>
            <a:chExt cx="9755506" cy="633638"/>
          </a:xfrm>
        </p:grpSpPr>
        <p:grpSp>
          <p:nvGrpSpPr>
            <p:cNvPr name="Group 20" id="20"/>
            <p:cNvGrpSpPr/>
            <p:nvPr/>
          </p:nvGrpSpPr>
          <p:grpSpPr>
            <a:xfrm rot="-10800000">
              <a:off x="0" y="0"/>
              <a:ext cx="9755506" cy="633638"/>
              <a:chOff x="0" y="0"/>
              <a:chExt cx="2590027" cy="168227"/>
            </a:xfrm>
          </p:grpSpPr>
          <p:sp>
            <p:nvSpPr>
              <p:cNvPr name="Freeform 21" id="21"/>
              <p:cNvSpPr/>
              <p:nvPr/>
            </p:nvSpPr>
            <p:spPr>
              <a:xfrm flipH="false" flipV="false" rot="0">
                <a:off x="0" y="0"/>
                <a:ext cx="2590027" cy="168227"/>
              </a:xfrm>
              <a:custGeom>
                <a:avLst/>
                <a:gdLst/>
                <a:ahLst/>
                <a:cxnLst/>
                <a:rect r="r" b="b" t="t" l="l"/>
                <a:pathLst>
                  <a:path h="168227" w="2590027">
                    <a:moveTo>
                      <a:pt x="84114" y="0"/>
                    </a:moveTo>
                    <a:lnTo>
                      <a:pt x="2505914" y="0"/>
                    </a:lnTo>
                    <a:cubicBezTo>
                      <a:pt x="2528222" y="0"/>
                      <a:pt x="2549617" y="8862"/>
                      <a:pt x="2565391" y="24636"/>
                    </a:cubicBezTo>
                    <a:cubicBezTo>
                      <a:pt x="2581166" y="40411"/>
                      <a:pt x="2590027" y="61805"/>
                      <a:pt x="2590027" y="84114"/>
                    </a:cubicBezTo>
                    <a:lnTo>
                      <a:pt x="2590027" y="84114"/>
                    </a:lnTo>
                    <a:cubicBezTo>
                      <a:pt x="2590027" y="130568"/>
                      <a:pt x="2552368" y="168227"/>
                      <a:pt x="2505914"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22" id="22"/>
              <p:cNvSpPr txBox="true"/>
              <p:nvPr/>
            </p:nvSpPr>
            <p:spPr>
              <a:xfrm>
                <a:off x="0" y="-38100"/>
                <a:ext cx="2590027" cy="206327"/>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219555" y="73198"/>
              <a:ext cx="7071609" cy="487241"/>
            </a:xfrm>
            <a:prstGeom prst="rect">
              <a:avLst/>
            </a:prstGeom>
          </p:spPr>
          <p:txBody>
            <a:bodyPr anchor="t" rtlCol="false" tIns="0" lIns="0" bIns="0" rIns="0">
              <a:spAutoFit/>
            </a:bodyPr>
            <a:lstStyle/>
            <a:p>
              <a:pPr algn="ctr" marL="529352" indent="-264676" lvl="1">
                <a:lnSpc>
                  <a:spcPts val="3064"/>
                </a:lnSpc>
                <a:buAutoNum type="arabicPeriod" startAt="1"/>
              </a:pPr>
              <a:r>
                <a:rPr lang="en-US" b="true" sz="2451">
                  <a:solidFill>
                    <a:srgbClr val="20562E"/>
                  </a:solidFill>
                  <a:latin typeface="Canva Sans Bold"/>
                  <a:ea typeface="Canva Sans Bold"/>
                  <a:cs typeface="Canva Sans Bold"/>
                  <a:sym typeface="Canva Sans Bold"/>
                </a:rPr>
                <a:t>Contract checks threshold</a:t>
              </a:r>
            </a:p>
          </p:txBody>
        </p:sp>
      </p:grpSp>
      <p:grpSp>
        <p:nvGrpSpPr>
          <p:cNvPr name="Group 24" id="24"/>
          <p:cNvGrpSpPr/>
          <p:nvPr/>
        </p:nvGrpSpPr>
        <p:grpSpPr>
          <a:xfrm rot="0">
            <a:off x="9375410" y="7293436"/>
            <a:ext cx="7316629" cy="475229"/>
            <a:chOff x="0" y="0"/>
            <a:chExt cx="9755506" cy="633638"/>
          </a:xfrm>
        </p:grpSpPr>
        <p:grpSp>
          <p:nvGrpSpPr>
            <p:cNvPr name="Group 25" id="25"/>
            <p:cNvGrpSpPr/>
            <p:nvPr/>
          </p:nvGrpSpPr>
          <p:grpSpPr>
            <a:xfrm rot="-10800000">
              <a:off x="0" y="0"/>
              <a:ext cx="9755506" cy="633638"/>
              <a:chOff x="0" y="0"/>
              <a:chExt cx="2590027" cy="168227"/>
            </a:xfrm>
          </p:grpSpPr>
          <p:sp>
            <p:nvSpPr>
              <p:cNvPr name="Freeform 26" id="26"/>
              <p:cNvSpPr/>
              <p:nvPr/>
            </p:nvSpPr>
            <p:spPr>
              <a:xfrm flipH="false" flipV="false" rot="0">
                <a:off x="0" y="0"/>
                <a:ext cx="2590027" cy="168227"/>
              </a:xfrm>
              <a:custGeom>
                <a:avLst/>
                <a:gdLst/>
                <a:ahLst/>
                <a:cxnLst/>
                <a:rect r="r" b="b" t="t" l="l"/>
                <a:pathLst>
                  <a:path h="168227" w="2590027">
                    <a:moveTo>
                      <a:pt x="84114" y="0"/>
                    </a:moveTo>
                    <a:lnTo>
                      <a:pt x="2505914" y="0"/>
                    </a:lnTo>
                    <a:cubicBezTo>
                      <a:pt x="2528222" y="0"/>
                      <a:pt x="2549617" y="8862"/>
                      <a:pt x="2565391" y="24636"/>
                    </a:cubicBezTo>
                    <a:cubicBezTo>
                      <a:pt x="2581166" y="40411"/>
                      <a:pt x="2590027" y="61805"/>
                      <a:pt x="2590027" y="84114"/>
                    </a:cubicBezTo>
                    <a:lnTo>
                      <a:pt x="2590027" y="84114"/>
                    </a:lnTo>
                    <a:cubicBezTo>
                      <a:pt x="2590027" y="130568"/>
                      <a:pt x="2552368" y="168227"/>
                      <a:pt x="2505914"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27" id="27"/>
              <p:cNvSpPr txBox="true"/>
              <p:nvPr/>
            </p:nvSpPr>
            <p:spPr>
              <a:xfrm>
                <a:off x="0" y="-38100"/>
                <a:ext cx="2590027" cy="206327"/>
              </a:xfrm>
              <a:prstGeom prst="rect">
                <a:avLst/>
              </a:prstGeom>
            </p:spPr>
            <p:txBody>
              <a:bodyPr anchor="ctr" rtlCol="false" tIns="50800" lIns="50800" bIns="50800" rIns="50800"/>
              <a:lstStyle/>
              <a:p>
                <a:pPr algn="ctr">
                  <a:lnSpc>
                    <a:spcPts val="2659"/>
                  </a:lnSpc>
                  <a:spcBef>
                    <a:spcPct val="0"/>
                  </a:spcBef>
                </a:pPr>
              </a:p>
            </p:txBody>
          </p:sp>
        </p:grpSp>
        <p:sp>
          <p:nvSpPr>
            <p:cNvPr name="TextBox 28" id="28"/>
            <p:cNvSpPr txBox="true"/>
            <p:nvPr/>
          </p:nvSpPr>
          <p:spPr>
            <a:xfrm rot="0">
              <a:off x="219555" y="73198"/>
              <a:ext cx="8919502" cy="487241"/>
            </a:xfrm>
            <a:prstGeom prst="rect">
              <a:avLst/>
            </a:prstGeom>
          </p:spPr>
          <p:txBody>
            <a:bodyPr anchor="t" rtlCol="false" tIns="0" lIns="0" bIns="0" rIns="0">
              <a:spAutoFit/>
            </a:bodyPr>
            <a:lstStyle/>
            <a:p>
              <a:pPr algn="ctr" marL="529352" indent="-264676" lvl="1">
                <a:lnSpc>
                  <a:spcPts val="3064"/>
                </a:lnSpc>
                <a:buAutoNum type="arabicPeriod" startAt="1"/>
              </a:pPr>
              <a:r>
                <a:rPr lang="en-US" b="true" sz="2451">
                  <a:solidFill>
                    <a:srgbClr val="20562E"/>
                  </a:solidFill>
                  <a:latin typeface="Canva Sans Bold"/>
                  <a:ea typeface="Canva Sans Bold"/>
                  <a:cs typeface="Canva Sans Bold"/>
                  <a:sym typeface="Canva Sans Bold"/>
                </a:rPr>
                <a:t>Automatic payout if conditions met</a:t>
              </a:r>
            </a:p>
          </p:txBody>
        </p:sp>
      </p:grpSp>
    </p:spTree>
  </p:cSld>
  <p:clrMapOvr>
    <a:masterClrMapping/>
  </p:clrMapOvr>
</p:sld>
</file>

<file path=ppt/slides/slide17.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805052" y="1390650"/>
            <a:ext cx="11926824" cy="1266395"/>
          </a:xfrm>
          <a:prstGeom prst="rect">
            <a:avLst/>
          </a:prstGeom>
        </p:spPr>
        <p:txBody>
          <a:bodyPr anchor="t" rtlCol="false" tIns="0" lIns="0" bIns="0" rIns="0">
            <a:spAutoFit/>
          </a:bodyPr>
          <a:lstStyle/>
          <a:p>
            <a:pPr algn="l">
              <a:lnSpc>
                <a:spcPts val="8909"/>
              </a:lnSpc>
            </a:pPr>
            <a:r>
              <a:rPr lang="en-US" sz="10734" b="true">
                <a:solidFill>
                  <a:srgbClr val="20562E"/>
                </a:solidFill>
                <a:latin typeface="Bricolage Grotesque Bold"/>
                <a:ea typeface="Bricolage Grotesque Bold"/>
                <a:cs typeface="Bricolage Grotesque Bold"/>
                <a:sym typeface="Bricolage Grotesque Bold"/>
              </a:rPr>
              <a:t>Technology Stack</a:t>
            </a:r>
          </a:p>
        </p:txBody>
      </p:sp>
      <p:grpSp>
        <p:nvGrpSpPr>
          <p:cNvPr name="Group 3" id="3"/>
          <p:cNvGrpSpPr/>
          <p:nvPr/>
        </p:nvGrpSpPr>
        <p:grpSpPr>
          <a:xfrm rot="0">
            <a:off x="1805052" y="3146316"/>
            <a:ext cx="5586464" cy="475229"/>
            <a:chOff x="0" y="0"/>
            <a:chExt cx="7448618" cy="633638"/>
          </a:xfrm>
        </p:grpSpPr>
        <p:grpSp>
          <p:nvGrpSpPr>
            <p:cNvPr name="Group 4" id="4"/>
            <p:cNvGrpSpPr/>
            <p:nvPr/>
          </p:nvGrpSpPr>
          <p:grpSpPr>
            <a:xfrm rot="-10800000">
              <a:off x="0" y="0"/>
              <a:ext cx="7448618" cy="633638"/>
              <a:chOff x="0" y="0"/>
              <a:chExt cx="1977563" cy="168227"/>
            </a:xfrm>
          </p:grpSpPr>
          <p:sp>
            <p:nvSpPr>
              <p:cNvPr name="Freeform 5" id="5"/>
              <p:cNvSpPr/>
              <p:nvPr/>
            </p:nvSpPr>
            <p:spPr>
              <a:xfrm flipH="false" flipV="false" rot="0">
                <a:off x="0" y="0"/>
                <a:ext cx="1977563" cy="168227"/>
              </a:xfrm>
              <a:custGeom>
                <a:avLst/>
                <a:gdLst/>
                <a:ahLst/>
                <a:cxnLst/>
                <a:rect r="r" b="b" t="t" l="l"/>
                <a:pathLst>
                  <a:path h="168227" w="1977563">
                    <a:moveTo>
                      <a:pt x="84114" y="0"/>
                    </a:moveTo>
                    <a:lnTo>
                      <a:pt x="1893449" y="0"/>
                    </a:lnTo>
                    <a:cubicBezTo>
                      <a:pt x="1915758" y="0"/>
                      <a:pt x="1937152" y="8862"/>
                      <a:pt x="1952927" y="24636"/>
                    </a:cubicBezTo>
                    <a:cubicBezTo>
                      <a:pt x="1968701" y="40411"/>
                      <a:pt x="1977563" y="61805"/>
                      <a:pt x="1977563" y="84114"/>
                    </a:cubicBezTo>
                    <a:lnTo>
                      <a:pt x="1977563" y="84114"/>
                    </a:lnTo>
                    <a:cubicBezTo>
                      <a:pt x="1977563" y="130568"/>
                      <a:pt x="1939904" y="168227"/>
                      <a:pt x="1893449"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6" id="6"/>
              <p:cNvSpPr txBox="true"/>
              <p:nvPr/>
            </p:nvSpPr>
            <p:spPr>
              <a:xfrm>
                <a:off x="0" y="-38100"/>
                <a:ext cx="1977563" cy="206327"/>
              </a:xfrm>
              <a:prstGeom prst="rect">
                <a:avLst/>
              </a:prstGeom>
            </p:spPr>
            <p:txBody>
              <a:bodyPr anchor="ctr" rtlCol="false" tIns="50800" lIns="50800" bIns="50800" rIns="50800"/>
              <a:lstStyle/>
              <a:p>
                <a:pPr algn="l">
                  <a:lnSpc>
                    <a:spcPts val="2659"/>
                  </a:lnSpc>
                </a:pPr>
              </a:p>
            </p:txBody>
          </p:sp>
        </p:grpSp>
        <p:sp>
          <p:nvSpPr>
            <p:cNvPr name="TextBox 7" id="7"/>
            <p:cNvSpPr txBox="true"/>
            <p:nvPr/>
          </p:nvSpPr>
          <p:spPr>
            <a:xfrm rot="0">
              <a:off x="64532" y="73198"/>
              <a:ext cx="6977277" cy="487241"/>
            </a:xfrm>
            <a:prstGeom prst="rect">
              <a:avLst/>
            </a:prstGeom>
          </p:spPr>
          <p:txBody>
            <a:bodyPr anchor="t" rtlCol="false" tIns="0" lIns="0" bIns="0" rIns="0">
              <a:spAutoFit/>
            </a:bodyPr>
            <a:lstStyle/>
            <a:p>
              <a:pPr algn="l">
                <a:lnSpc>
                  <a:spcPts val="3064"/>
                </a:lnSpc>
              </a:pPr>
              <a:r>
                <a:rPr lang="en-US" b="true" sz="2451">
                  <a:solidFill>
                    <a:srgbClr val="20562E"/>
                  </a:solidFill>
                  <a:latin typeface="Canva Sans Bold"/>
                  <a:ea typeface="Canva Sans Bold"/>
                  <a:cs typeface="Canva Sans Bold"/>
                  <a:sym typeface="Canva Sans Bold"/>
                </a:rPr>
                <a:t>Blockchain Layer</a:t>
              </a:r>
            </a:p>
          </p:txBody>
        </p:sp>
      </p:grpSp>
      <p:sp>
        <p:nvSpPr>
          <p:cNvPr name="TextBox 8" id="8"/>
          <p:cNvSpPr txBox="true"/>
          <p:nvPr/>
        </p:nvSpPr>
        <p:spPr>
          <a:xfrm rot="0">
            <a:off x="1805052" y="3814975"/>
            <a:ext cx="7727124" cy="746431"/>
          </a:xfrm>
          <a:prstGeom prst="rect">
            <a:avLst/>
          </a:prstGeom>
        </p:spPr>
        <p:txBody>
          <a:bodyPr anchor="t" rtlCol="false" tIns="0" lIns="0" bIns="0" rIns="0">
            <a:spAutoFit/>
          </a:bodyPr>
          <a:lstStyle/>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Ethe</a:t>
            </a:r>
            <a:r>
              <a:rPr lang="en-US" sz="2451">
                <a:solidFill>
                  <a:srgbClr val="20562E"/>
                </a:solidFill>
                <a:latin typeface="Canva Sans"/>
                <a:ea typeface="Canva Sans"/>
                <a:cs typeface="Canva Sans"/>
                <a:sym typeface="Canva Sans"/>
              </a:rPr>
              <a:t>reum / Polygon Blockchain</a:t>
            </a:r>
          </a:p>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Solidity (Smart Contract Language)</a:t>
            </a:r>
          </a:p>
        </p:txBody>
      </p:sp>
      <p:grpSp>
        <p:nvGrpSpPr>
          <p:cNvPr name="Group 9" id="9"/>
          <p:cNvGrpSpPr/>
          <p:nvPr/>
        </p:nvGrpSpPr>
        <p:grpSpPr>
          <a:xfrm rot="0">
            <a:off x="1805052" y="5158554"/>
            <a:ext cx="5586464" cy="475229"/>
            <a:chOff x="0" y="0"/>
            <a:chExt cx="7448618" cy="633638"/>
          </a:xfrm>
        </p:grpSpPr>
        <p:grpSp>
          <p:nvGrpSpPr>
            <p:cNvPr name="Group 10" id="10"/>
            <p:cNvGrpSpPr/>
            <p:nvPr/>
          </p:nvGrpSpPr>
          <p:grpSpPr>
            <a:xfrm rot="-10800000">
              <a:off x="0" y="0"/>
              <a:ext cx="7448618" cy="633638"/>
              <a:chOff x="0" y="0"/>
              <a:chExt cx="1977563" cy="168227"/>
            </a:xfrm>
          </p:grpSpPr>
          <p:sp>
            <p:nvSpPr>
              <p:cNvPr name="Freeform 11" id="11"/>
              <p:cNvSpPr/>
              <p:nvPr/>
            </p:nvSpPr>
            <p:spPr>
              <a:xfrm flipH="false" flipV="false" rot="0">
                <a:off x="0" y="0"/>
                <a:ext cx="1977563" cy="168227"/>
              </a:xfrm>
              <a:custGeom>
                <a:avLst/>
                <a:gdLst/>
                <a:ahLst/>
                <a:cxnLst/>
                <a:rect r="r" b="b" t="t" l="l"/>
                <a:pathLst>
                  <a:path h="168227" w="1977563">
                    <a:moveTo>
                      <a:pt x="84114" y="0"/>
                    </a:moveTo>
                    <a:lnTo>
                      <a:pt x="1893449" y="0"/>
                    </a:lnTo>
                    <a:cubicBezTo>
                      <a:pt x="1915758" y="0"/>
                      <a:pt x="1937152" y="8862"/>
                      <a:pt x="1952927" y="24636"/>
                    </a:cubicBezTo>
                    <a:cubicBezTo>
                      <a:pt x="1968701" y="40411"/>
                      <a:pt x="1977563" y="61805"/>
                      <a:pt x="1977563" y="84114"/>
                    </a:cubicBezTo>
                    <a:lnTo>
                      <a:pt x="1977563" y="84114"/>
                    </a:lnTo>
                    <a:cubicBezTo>
                      <a:pt x="1977563" y="130568"/>
                      <a:pt x="1939904" y="168227"/>
                      <a:pt x="1893449"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12" id="12"/>
              <p:cNvSpPr txBox="true"/>
              <p:nvPr/>
            </p:nvSpPr>
            <p:spPr>
              <a:xfrm>
                <a:off x="0" y="-38100"/>
                <a:ext cx="1977563" cy="206327"/>
              </a:xfrm>
              <a:prstGeom prst="rect">
                <a:avLst/>
              </a:prstGeom>
            </p:spPr>
            <p:txBody>
              <a:bodyPr anchor="ctr" rtlCol="false" tIns="50800" lIns="50800" bIns="50800" rIns="50800"/>
              <a:lstStyle/>
              <a:p>
                <a:pPr algn="l">
                  <a:lnSpc>
                    <a:spcPts val="2659"/>
                  </a:lnSpc>
                </a:pPr>
              </a:p>
            </p:txBody>
          </p:sp>
        </p:grpSp>
        <p:sp>
          <p:nvSpPr>
            <p:cNvPr name="TextBox 13" id="13"/>
            <p:cNvSpPr txBox="true"/>
            <p:nvPr/>
          </p:nvSpPr>
          <p:spPr>
            <a:xfrm rot="0">
              <a:off x="64532" y="73198"/>
              <a:ext cx="6977277" cy="487241"/>
            </a:xfrm>
            <a:prstGeom prst="rect">
              <a:avLst/>
            </a:prstGeom>
          </p:spPr>
          <p:txBody>
            <a:bodyPr anchor="t" rtlCol="false" tIns="0" lIns="0" bIns="0" rIns="0">
              <a:spAutoFit/>
            </a:bodyPr>
            <a:lstStyle/>
            <a:p>
              <a:pPr algn="l">
                <a:lnSpc>
                  <a:spcPts val="3064"/>
                </a:lnSpc>
              </a:pPr>
              <a:r>
                <a:rPr lang="en-US" b="true" sz="2451">
                  <a:solidFill>
                    <a:srgbClr val="20562E"/>
                  </a:solidFill>
                  <a:latin typeface="Canva Sans Bold"/>
                  <a:ea typeface="Canva Sans Bold"/>
                  <a:cs typeface="Canva Sans Bold"/>
                  <a:sym typeface="Canva Sans Bold"/>
                </a:rPr>
                <a:t>Oracle Layer</a:t>
              </a:r>
            </a:p>
          </p:txBody>
        </p:sp>
      </p:grpSp>
      <p:sp>
        <p:nvSpPr>
          <p:cNvPr name="TextBox 14" id="14"/>
          <p:cNvSpPr txBox="true"/>
          <p:nvPr/>
        </p:nvSpPr>
        <p:spPr>
          <a:xfrm rot="0">
            <a:off x="1805052" y="5827213"/>
            <a:ext cx="7727124" cy="746431"/>
          </a:xfrm>
          <a:prstGeom prst="rect">
            <a:avLst/>
          </a:prstGeom>
        </p:spPr>
        <p:txBody>
          <a:bodyPr anchor="t" rtlCol="false" tIns="0" lIns="0" bIns="0" rIns="0">
            <a:spAutoFit/>
          </a:bodyPr>
          <a:lstStyle/>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Chainlink Oracle</a:t>
            </a:r>
          </a:p>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External Weathe</a:t>
            </a:r>
            <a:r>
              <a:rPr lang="en-US" sz="2451">
                <a:solidFill>
                  <a:srgbClr val="20562E"/>
                </a:solidFill>
                <a:latin typeface="Canva Sans"/>
                <a:ea typeface="Canva Sans"/>
                <a:cs typeface="Canva Sans"/>
                <a:sym typeface="Canva Sans"/>
              </a:rPr>
              <a:t>r APIs (Rainfall data)</a:t>
            </a:r>
          </a:p>
        </p:txBody>
      </p:sp>
      <p:grpSp>
        <p:nvGrpSpPr>
          <p:cNvPr name="Group 15" id="15"/>
          <p:cNvGrpSpPr/>
          <p:nvPr/>
        </p:nvGrpSpPr>
        <p:grpSpPr>
          <a:xfrm rot="0">
            <a:off x="1805052" y="7170793"/>
            <a:ext cx="5586464" cy="475229"/>
            <a:chOff x="0" y="0"/>
            <a:chExt cx="7448618" cy="633638"/>
          </a:xfrm>
        </p:grpSpPr>
        <p:grpSp>
          <p:nvGrpSpPr>
            <p:cNvPr name="Group 16" id="16"/>
            <p:cNvGrpSpPr/>
            <p:nvPr/>
          </p:nvGrpSpPr>
          <p:grpSpPr>
            <a:xfrm rot="-10800000">
              <a:off x="0" y="0"/>
              <a:ext cx="7448618" cy="633638"/>
              <a:chOff x="0" y="0"/>
              <a:chExt cx="1977563" cy="168227"/>
            </a:xfrm>
          </p:grpSpPr>
          <p:sp>
            <p:nvSpPr>
              <p:cNvPr name="Freeform 17" id="17"/>
              <p:cNvSpPr/>
              <p:nvPr/>
            </p:nvSpPr>
            <p:spPr>
              <a:xfrm flipH="false" flipV="false" rot="0">
                <a:off x="0" y="0"/>
                <a:ext cx="1977563" cy="168227"/>
              </a:xfrm>
              <a:custGeom>
                <a:avLst/>
                <a:gdLst/>
                <a:ahLst/>
                <a:cxnLst/>
                <a:rect r="r" b="b" t="t" l="l"/>
                <a:pathLst>
                  <a:path h="168227" w="1977563">
                    <a:moveTo>
                      <a:pt x="84114" y="0"/>
                    </a:moveTo>
                    <a:lnTo>
                      <a:pt x="1893449" y="0"/>
                    </a:lnTo>
                    <a:cubicBezTo>
                      <a:pt x="1915758" y="0"/>
                      <a:pt x="1937152" y="8862"/>
                      <a:pt x="1952927" y="24636"/>
                    </a:cubicBezTo>
                    <a:cubicBezTo>
                      <a:pt x="1968701" y="40411"/>
                      <a:pt x="1977563" y="61805"/>
                      <a:pt x="1977563" y="84114"/>
                    </a:cubicBezTo>
                    <a:lnTo>
                      <a:pt x="1977563" y="84114"/>
                    </a:lnTo>
                    <a:cubicBezTo>
                      <a:pt x="1977563" y="130568"/>
                      <a:pt x="1939904" y="168227"/>
                      <a:pt x="1893449"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18" id="18"/>
              <p:cNvSpPr txBox="true"/>
              <p:nvPr/>
            </p:nvSpPr>
            <p:spPr>
              <a:xfrm>
                <a:off x="0" y="-38100"/>
                <a:ext cx="1977563" cy="206327"/>
              </a:xfrm>
              <a:prstGeom prst="rect">
                <a:avLst/>
              </a:prstGeom>
            </p:spPr>
            <p:txBody>
              <a:bodyPr anchor="ctr" rtlCol="false" tIns="50800" lIns="50800" bIns="50800" rIns="50800"/>
              <a:lstStyle/>
              <a:p>
                <a:pPr algn="l">
                  <a:lnSpc>
                    <a:spcPts val="2659"/>
                  </a:lnSpc>
                </a:pPr>
              </a:p>
            </p:txBody>
          </p:sp>
        </p:grpSp>
        <p:sp>
          <p:nvSpPr>
            <p:cNvPr name="TextBox 19" id="19"/>
            <p:cNvSpPr txBox="true"/>
            <p:nvPr/>
          </p:nvSpPr>
          <p:spPr>
            <a:xfrm rot="0">
              <a:off x="64532" y="73198"/>
              <a:ext cx="6977277" cy="487241"/>
            </a:xfrm>
            <a:prstGeom prst="rect">
              <a:avLst/>
            </a:prstGeom>
          </p:spPr>
          <p:txBody>
            <a:bodyPr anchor="t" rtlCol="false" tIns="0" lIns="0" bIns="0" rIns="0">
              <a:spAutoFit/>
            </a:bodyPr>
            <a:lstStyle/>
            <a:p>
              <a:pPr algn="l">
                <a:lnSpc>
                  <a:spcPts val="3064"/>
                </a:lnSpc>
              </a:pPr>
              <a:r>
                <a:rPr lang="en-US" b="true" sz="2451">
                  <a:solidFill>
                    <a:srgbClr val="20562E"/>
                  </a:solidFill>
                  <a:latin typeface="Canva Sans Bold"/>
                  <a:ea typeface="Canva Sans Bold"/>
                  <a:cs typeface="Canva Sans Bold"/>
                  <a:sym typeface="Canva Sans Bold"/>
                </a:rPr>
                <a:t>Backend / Integration</a:t>
              </a:r>
            </a:p>
          </p:txBody>
        </p:sp>
      </p:grpSp>
      <p:sp>
        <p:nvSpPr>
          <p:cNvPr name="TextBox 20" id="20"/>
          <p:cNvSpPr txBox="true"/>
          <p:nvPr/>
        </p:nvSpPr>
        <p:spPr>
          <a:xfrm rot="0">
            <a:off x="1805052" y="7839452"/>
            <a:ext cx="7727124" cy="746431"/>
          </a:xfrm>
          <a:prstGeom prst="rect">
            <a:avLst/>
          </a:prstGeom>
        </p:spPr>
        <p:txBody>
          <a:bodyPr anchor="t" rtlCol="false" tIns="0" lIns="0" bIns="0" rIns="0">
            <a:spAutoFit/>
          </a:bodyPr>
          <a:lstStyle/>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Node.js</a:t>
            </a:r>
          </a:p>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W</a:t>
            </a:r>
            <a:r>
              <a:rPr lang="en-US" sz="2451">
                <a:solidFill>
                  <a:srgbClr val="20562E"/>
                </a:solidFill>
                <a:latin typeface="Canva Sans"/>
                <a:ea typeface="Canva Sans"/>
                <a:cs typeface="Canva Sans"/>
                <a:sym typeface="Canva Sans"/>
              </a:rPr>
              <a:t>eb3.js / Ethers.js</a:t>
            </a:r>
          </a:p>
        </p:txBody>
      </p:sp>
      <p:grpSp>
        <p:nvGrpSpPr>
          <p:cNvPr name="Group 21" id="21"/>
          <p:cNvGrpSpPr/>
          <p:nvPr/>
        </p:nvGrpSpPr>
        <p:grpSpPr>
          <a:xfrm rot="0">
            <a:off x="9532176" y="3146316"/>
            <a:ext cx="5586464" cy="475229"/>
            <a:chOff x="0" y="0"/>
            <a:chExt cx="7448618" cy="633638"/>
          </a:xfrm>
        </p:grpSpPr>
        <p:grpSp>
          <p:nvGrpSpPr>
            <p:cNvPr name="Group 22" id="22"/>
            <p:cNvGrpSpPr/>
            <p:nvPr/>
          </p:nvGrpSpPr>
          <p:grpSpPr>
            <a:xfrm rot="-10800000">
              <a:off x="0" y="0"/>
              <a:ext cx="7448618" cy="633638"/>
              <a:chOff x="0" y="0"/>
              <a:chExt cx="1977563" cy="168227"/>
            </a:xfrm>
          </p:grpSpPr>
          <p:sp>
            <p:nvSpPr>
              <p:cNvPr name="Freeform 23" id="23"/>
              <p:cNvSpPr/>
              <p:nvPr/>
            </p:nvSpPr>
            <p:spPr>
              <a:xfrm flipH="false" flipV="false" rot="0">
                <a:off x="0" y="0"/>
                <a:ext cx="1977563" cy="168227"/>
              </a:xfrm>
              <a:custGeom>
                <a:avLst/>
                <a:gdLst/>
                <a:ahLst/>
                <a:cxnLst/>
                <a:rect r="r" b="b" t="t" l="l"/>
                <a:pathLst>
                  <a:path h="168227" w="1977563">
                    <a:moveTo>
                      <a:pt x="84114" y="0"/>
                    </a:moveTo>
                    <a:lnTo>
                      <a:pt x="1893449" y="0"/>
                    </a:lnTo>
                    <a:cubicBezTo>
                      <a:pt x="1915758" y="0"/>
                      <a:pt x="1937152" y="8862"/>
                      <a:pt x="1952927" y="24636"/>
                    </a:cubicBezTo>
                    <a:cubicBezTo>
                      <a:pt x="1968701" y="40411"/>
                      <a:pt x="1977563" y="61805"/>
                      <a:pt x="1977563" y="84114"/>
                    </a:cubicBezTo>
                    <a:lnTo>
                      <a:pt x="1977563" y="84114"/>
                    </a:lnTo>
                    <a:cubicBezTo>
                      <a:pt x="1977563" y="130568"/>
                      <a:pt x="1939904" y="168227"/>
                      <a:pt x="1893449"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24" id="24"/>
              <p:cNvSpPr txBox="true"/>
              <p:nvPr/>
            </p:nvSpPr>
            <p:spPr>
              <a:xfrm>
                <a:off x="0" y="-38100"/>
                <a:ext cx="1977563" cy="206327"/>
              </a:xfrm>
              <a:prstGeom prst="rect">
                <a:avLst/>
              </a:prstGeom>
            </p:spPr>
            <p:txBody>
              <a:bodyPr anchor="ctr" rtlCol="false" tIns="50800" lIns="50800" bIns="50800" rIns="50800"/>
              <a:lstStyle/>
              <a:p>
                <a:pPr algn="l">
                  <a:lnSpc>
                    <a:spcPts val="2659"/>
                  </a:lnSpc>
                </a:pPr>
              </a:p>
            </p:txBody>
          </p:sp>
        </p:grpSp>
        <p:sp>
          <p:nvSpPr>
            <p:cNvPr name="TextBox 25" id="25"/>
            <p:cNvSpPr txBox="true"/>
            <p:nvPr/>
          </p:nvSpPr>
          <p:spPr>
            <a:xfrm rot="0">
              <a:off x="64532" y="73198"/>
              <a:ext cx="6977277" cy="487241"/>
            </a:xfrm>
            <a:prstGeom prst="rect">
              <a:avLst/>
            </a:prstGeom>
          </p:spPr>
          <p:txBody>
            <a:bodyPr anchor="t" rtlCol="false" tIns="0" lIns="0" bIns="0" rIns="0">
              <a:spAutoFit/>
            </a:bodyPr>
            <a:lstStyle/>
            <a:p>
              <a:pPr algn="l">
                <a:lnSpc>
                  <a:spcPts val="3064"/>
                </a:lnSpc>
              </a:pPr>
              <a:r>
                <a:rPr lang="en-US" b="true" sz="2451">
                  <a:solidFill>
                    <a:srgbClr val="20562E"/>
                  </a:solidFill>
                  <a:latin typeface="Canva Sans Bold"/>
                  <a:ea typeface="Canva Sans Bold"/>
                  <a:cs typeface="Canva Sans Bold"/>
                  <a:sym typeface="Canva Sans Bold"/>
                </a:rPr>
                <a:t>Frontend </a:t>
              </a:r>
            </a:p>
          </p:txBody>
        </p:sp>
      </p:grpSp>
      <p:sp>
        <p:nvSpPr>
          <p:cNvPr name="TextBox 26" id="26"/>
          <p:cNvSpPr txBox="true"/>
          <p:nvPr/>
        </p:nvSpPr>
        <p:spPr>
          <a:xfrm rot="0">
            <a:off x="9532176" y="3814975"/>
            <a:ext cx="7727124" cy="746431"/>
          </a:xfrm>
          <a:prstGeom prst="rect">
            <a:avLst/>
          </a:prstGeom>
        </p:spPr>
        <p:txBody>
          <a:bodyPr anchor="t" rtlCol="false" tIns="0" lIns="0" bIns="0" rIns="0">
            <a:spAutoFit/>
          </a:bodyPr>
          <a:lstStyle/>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HTML,</a:t>
            </a:r>
            <a:r>
              <a:rPr lang="en-US" sz="2451">
                <a:solidFill>
                  <a:srgbClr val="20562E"/>
                </a:solidFill>
                <a:latin typeface="Canva Sans"/>
                <a:ea typeface="Canva Sans"/>
                <a:cs typeface="Canva Sans"/>
                <a:sym typeface="Canva Sans"/>
              </a:rPr>
              <a:t> CSS, JavaScript</a:t>
            </a:r>
          </a:p>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React.js</a:t>
            </a:r>
          </a:p>
        </p:txBody>
      </p:sp>
      <p:grpSp>
        <p:nvGrpSpPr>
          <p:cNvPr name="Group 27" id="27"/>
          <p:cNvGrpSpPr/>
          <p:nvPr/>
        </p:nvGrpSpPr>
        <p:grpSpPr>
          <a:xfrm rot="0">
            <a:off x="9532176" y="5158554"/>
            <a:ext cx="5586464" cy="475229"/>
            <a:chOff x="0" y="0"/>
            <a:chExt cx="7448618" cy="633638"/>
          </a:xfrm>
        </p:grpSpPr>
        <p:grpSp>
          <p:nvGrpSpPr>
            <p:cNvPr name="Group 28" id="28"/>
            <p:cNvGrpSpPr/>
            <p:nvPr/>
          </p:nvGrpSpPr>
          <p:grpSpPr>
            <a:xfrm rot="-10800000">
              <a:off x="0" y="0"/>
              <a:ext cx="7448618" cy="633638"/>
              <a:chOff x="0" y="0"/>
              <a:chExt cx="1977563" cy="168227"/>
            </a:xfrm>
          </p:grpSpPr>
          <p:sp>
            <p:nvSpPr>
              <p:cNvPr name="Freeform 29" id="29"/>
              <p:cNvSpPr/>
              <p:nvPr/>
            </p:nvSpPr>
            <p:spPr>
              <a:xfrm flipH="false" flipV="false" rot="0">
                <a:off x="0" y="0"/>
                <a:ext cx="1977563" cy="168227"/>
              </a:xfrm>
              <a:custGeom>
                <a:avLst/>
                <a:gdLst/>
                <a:ahLst/>
                <a:cxnLst/>
                <a:rect r="r" b="b" t="t" l="l"/>
                <a:pathLst>
                  <a:path h="168227" w="1977563">
                    <a:moveTo>
                      <a:pt x="84114" y="0"/>
                    </a:moveTo>
                    <a:lnTo>
                      <a:pt x="1893449" y="0"/>
                    </a:lnTo>
                    <a:cubicBezTo>
                      <a:pt x="1915758" y="0"/>
                      <a:pt x="1937152" y="8862"/>
                      <a:pt x="1952927" y="24636"/>
                    </a:cubicBezTo>
                    <a:cubicBezTo>
                      <a:pt x="1968701" y="40411"/>
                      <a:pt x="1977563" y="61805"/>
                      <a:pt x="1977563" y="84114"/>
                    </a:cubicBezTo>
                    <a:lnTo>
                      <a:pt x="1977563" y="84114"/>
                    </a:lnTo>
                    <a:cubicBezTo>
                      <a:pt x="1977563" y="130568"/>
                      <a:pt x="1939904" y="168227"/>
                      <a:pt x="1893449"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30" id="30"/>
              <p:cNvSpPr txBox="true"/>
              <p:nvPr/>
            </p:nvSpPr>
            <p:spPr>
              <a:xfrm>
                <a:off x="0" y="-38100"/>
                <a:ext cx="1977563" cy="206327"/>
              </a:xfrm>
              <a:prstGeom prst="rect">
                <a:avLst/>
              </a:prstGeom>
            </p:spPr>
            <p:txBody>
              <a:bodyPr anchor="ctr" rtlCol="false" tIns="50800" lIns="50800" bIns="50800" rIns="50800"/>
              <a:lstStyle/>
              <a:p>
                <a:pPr algn="l">
                  <a:lnSpc>
                    <a:spcPts val="2659"/>
                  </a:lnSpc>
                </a:pPr>
              </a:p>
            </p:txBody>
          </p:sp>
        </p:grpSp>
        <p:sp>
          <p:nvSpPr>
            <p:cNvPr name="TextBox 31" id="31"/>
            <p:cNvSpPr txBox="true"/>
            <p:nvPr/>
          </p:nvSpPr>
          <p:spPr>
            <a:xfrm rot="0">
              <a:off x="64532" y="73198"/>
              <a:ext cx="6977277" cy="487241"/>
            </a:xfrm>
            <a:prstGeom prst="rect">
              <a:avLst/>
            </a:prstGeom>
          </p:spPr>
          <p:txBody>
            <a:bodyPr anchor="t" rtlCol="false" tIns="0" lIns="0" bIns="0" rIns="0">
              <a:spAutoFit/>
            </a:bodyPr>
            <a:lstStyle/>
            <a:p>
              <a:pPr algn="l">
                <a:lnSpc>
                  <a:spcPts val="3064"/>
                </a:lnSpc>
              </a:pPr>
              <a:r>
                <a:rPr lang="en-US" b="true" sz="2451">
                  <a:solidFill>
                    <a:srgbClr val="20562E"/>
                  </a:solidFill>
                  <a:latin typeface="Canva Sans Bold"/>
                  <a:ea typeface="Canva Sans Bold"/>
                  <a:cs typeface="Canva Sans Bold"/>
                  <a:sym typeface="Canva Sans Bold"/>
                </a:rPr>
                <a:t>Development Tools</a:t>
              </a:r>
            </a:p>
          </p:txBody>
        </p:sp>
      </p:grpSp>
      <p:sp>
        <p:nvSpPr>
          <p:cNvPr name="TextBox 32" id="32"/>
          <p:cNvSpPr txBox="true"/>
          <p:nvPr/>
        </p:nvSpPr>
        <p:spPr>
          <a:xfrm rot="0">
            <a:off x="9532176" y="5827213"/>
            <a:ext cx="7727124" cy="1127431"/>
          </a:xfrm>
          <a:prstGeom prst="rect">
            <a:avLst/>
          </a:prstGeom>
        </p:spPr>
        <p:txBody>
          <a:bodyPr anchor="t" rtlCol="false" tIns="0" lIns="0" bIns="0" rIns="0">
            <a:spAutoFit/>
          </a:bodyPr>
          <a:lstStyle/>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R</a:t>
            </a:r>
            <a:r>
              <a:rPr lang="en-US" sz="2451">
                <a:solidFill>
                  <a:srgbClr val="20562E"/>
                </a:solidFill>
                <a:latin typeface="Canva Sans"/>
                <a:ea typeface="Canva Sans"/>
                <a:cs typeface="Canva Sans"/>
                <a:sym typeface="Canva Sans"/>
              </a:rPr>
              <a:t>emix IDE / Hardhat</a:t>
            </a:r>
          </a:p>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MetaMask Wallet</a:t>
            </a:r>
          </a:p>
          <a:p>
            <a:pPr algn="just" marL="529352" indent="-264676" lvl="1">
              <a:lnSpc>
                <a:spcPts val="3064"/>
              </a:lnSpc>
              <a:buAutoNum type="arabicPeriod" startAt="1"/>
            </a:pPr>
            <a:r>
              <a:rPr lang="en-US" sz="2451">
                <a:solidFill>
                  <a:srgbClr val="20562E"/>
                </a:solidFill>
                <a:latin typeface="Canva Sans"/>
                <a:ea typeface="Canva Sans"/>
                <a:cs typeface="Canva Sans"/>
                <a:sym typeface="Canva Sans"/>
              </a:rPr>
              <a:t>Git &amp; GitHub</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543952" y="1941633"/>
            <a:ext cx="13042952" cy="1266422"/>
          </a:xfrm>
          <a:prstGeom prst="rect">
            <a:avLst/>
          </a:prstGeom>
        </p:spPr>
        <p:txBody>
          <a:bodyPr anchor="t" rtlCol="false" tIns="0" lIns="0" bIns="0" rIns="0">
            <a:spAutoFit/>
          </a:bodyPr>
          <a:lstStyle/>
          <a:p>
            <a:pPr algn="l">
              <a:lnSpc>
                <a:spcPts val="8909"/>
              </a:lnSpc>
            </a:pPr>
            <a:r>
              <a:rPr lang="en-US" sz="10734" b="true">
                <a:solidFill>
                  <a:srgbClr val="20562E"/>
                </a:solidFill>
                <a:latin typeface="Bricolage Grotesque Bold"/>
                <a:ea typeface="Bricolage Grotesque Bold"/>
                <a:cs typeface="Bricolage Grotesque Bold"/>
                <a:sym typeface="Bricolage Grotesque Bold"/>
              </a:rPr>
              <a:t>Module Description</a:t>
            </a:r>
          </a:p>
        </p:txBody>
      </p:sp>
      <p:grpSp>
        <p:nvGrpSpPr>
          <p:cNvPr name="Group 3" id="3"/>
          <p:cNvGrpSpPr/>
          <p:nvPr/>
        </p:nvGrpSpPr>
        <p:grpSpPr>
          <a:xfrm rot="0">
            <a:off x="1543952" y="3651844"/>
            <a:ext cx="4666067" cy="475229"/>
            <a:chOff x="0" y="0"/>
            <a:chExt cx="6221423" cy="633638"/>
          </a:xfrm>
        </p:grpSpPr>
        <p:grpSp>
          <p:nvGrpSpPr>
            <p:cNvPr name="Group 4" id="4"/>
            <p:cNvGrpSpPr/>
            <p:nvPr/>
          </p:nvGrpSpPr>
          <p:grpSpPr>
            <a:xfrm rot="-10800000">
              <a:off x="0" y="0"/>
              <a:ext cx="6221423" cy="633638"/>
              <a:chOff x="0" y="0"/>
              <a:chExt cx="1651750" cy="168227"/>
            </a:xfrm>
          </p:grpSpPr>
          <p:sp>
            <p:nvSpPr>
              <p:cNvPr name="Freeform 5" id="5"/>
              <p:cNvSpPr/>
              <p:nvPr/>
            </p:nvSpPr>
            <p:spPr>
              <a:xfrm flipH="false" flipV="false" rot="0">
                <a:off x="0" y="0"/>
                <a:ext cx="1651750" cy="168227"/>
              </a:xfrm>
              <a:custGeom>
                <a:avLst/>
                <a:gdLst/>
                <a:ahLst/>
                <a:cxnLst/>
                <a:rect r="r" b="b" t="t" l="l"/>
                <a:pathLst>
                  <a:path h="168227" w="1651750">
                    <a:moveTo>
                      <a:pt x="84114" y="0"/>
                    </a:moveTo>
                    <a:lnTo>
                      <a:pt x="1567636" y="0"/>
                    </a:lnTo>
                    <a:cubicBezTo>
                      <a:pt x="1614091" y="0"/>
                      <a:pt x="1651750" y="37659"/>
                      <a:pt x="1651750" y="84114"/>
                    </a:cubicBezTo>
                    <a:lnTo>
                      <a:pt x="1651750" y="84114"/>
                    </a:lnTo>
                    <a:cubicBezTo>
                      <a:pt x="1651750" y="106422"/>
                      <a:pt x="1642888" y="127816"/>
                      <a:pt x="1627114" y="143591"/>
                    </a:cubicBezTo>
                    <a:cubicBezTo>
                      <a:pt x="1611339" y="159365"/>
                      <a:pt x="1589945" y="168227"/>
                      <a:pt x="1567636"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6" id="6"/>
              <p:cNvSpPr txBox="true"/>
              <p:nvPr/>
            </p:nvSpPr>
            <p:spPr>
              <a:xfrm>
                <a:off x="0" y="-38100"/>
                <a:ext cx="1651750" cy="206327"/>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53900" y="73198"/>
              <a:ext cx="5827738" cy="487241"/>
            </a:xfrm>
            <a:prstGeom prst="rect">
              <a:avLst/>
            </a:prstGeom>
          </p:spPr>
          <p:txBody>
            <a:bodyPr anchor="t" rtlCol="false" tIns="0" lIns="0" bIns="0" rIns="0">
              <a:spAutoFit/>
            </a:bodyPr>
            <a:lstStyle/>
            <a:p>
              <a:pPr algn="l" marL="529352" indent="-264676" lvl="1">
                <a:lnSpc>
                  <a:spcPts val="3064"/>
                </a:lnSpc>
                <a:buAutoNum type="arabicPeriod" startAt="1"/>
              </a:pPr>
              <a:r>
                <a:rPr lang="en-US" b="true" sz="2451">
                  <a:solidFill>
                    <a:srgbClr val="20562E"/>
                  </a:solidFill>
                  <a:latin typeface="Canva Sans Bold"/>
                  <a:ea typeface="Canva Sans Bold"/>
                  <a:cs typeface="Canva Sans Bold"/>
                  <a:sym typeface="Canva Sans Bold"/>
                </a:rPr>
                <a:t>Farmer Module</a:t>
              </a:r>
            </a:p>
          </p:txBody>
        </p:sp>
      </p:grpSp>
      <p:sp>
        <p:nvSpPr>
          <p:cNvPr name="TextBox 8" id="8"/>
          <p:cNvSpPr txBox="true"/>
          <p:nvPr/>
        </p:nvSpPr>
        <p:spPr>
          <a:xfrm rot="0">
            <a:off x="1543952" y="4320503"/>
            <a:ext cx="7727124" cy="1508431"/>
          </a:xfrm>
          <a:prstGeom prst="rect">
            <a:avLst/>
          </a:prstGeom>
        </p:spPr>
        <p:txBody>
          <a:bodyPr anchor="t" rtlCol="false" tIns="0" lIns="0" bIns="0" rIns="0">
            <a:spAutoFit/>
          </a:bodyPr>
          <a:lstStyle/>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Fa</a:t>
            </a:r>
            <a:r>
              <a:rPr lang="en-US" sz="2451">
                <a:solidFill>
                  <a:srgbClr val="20562E"/>
                </a:solidFill>
                <a:latin typeface="Canva Sans"/>
                <a:ea typeface="Canva Sans"/>
                <a:cs typeface="Canva Sans"/>
                <a:sym typeface="Canva Sans"/>
              </a:rPr>
              <a:t>rmer registration</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Policy purchase</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View policy status</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Receive claim payout</a:t>
            </a:r>
          </a:p>
        </p:txBody>
      </p:sp>
      <p:grpSp>
        <p:nvGrpSpPr>
          <p:cNvPr name="Group 9" id="9"/>
          <p:cNvGrpSpPr/>
          <p:nvPr/>
        </p:nvGrpSpPr>
        <p:grpSpPr>
          <a:xfrm rot="0">
            <a:off x="9144000" y="3649648"/>
            <a:ext cx="7727124" cy="2177090"/>
            <a:chOff x="0" y="0"/>
            <a:chExt cx="10302832" cy="2902786"/>
          </a:xfrm>
        </p:grpSpPr>
        <p:grpSp>
          <p:nvGrpSpPr>
            <p:cNvPr name="Group 10" id="10"/>
            <p:cNvGrpSpPr/>
            <p:nvPr/>
          </p:nvGrpSpPr>
          <p:grpSpPr>
            <a:xfrm rot="-10800000">
              <a:off x="0" y="0"/>
              <a:ext cx="6221423" cy="633638"/>
              <a:chOff x="0" y="0"/>
              <a:chExt cx="1651750" cy="168227"/>
            </a:xfrm>
          </p:grpSpPr>
          <p:sp>
            <p:nvSpPr>
              <p:cNvPr name="Freeform 11" id="11"/>
              <p:cNvSpPr/>
              <p:nvPr/>
            </p:nvSpPr>
            <p:spPr>
              <a:xfrm flipH="false" flipV="false" rot="0">
                <a:off x="0" y="0"/>
                <a:ext cx="1651750" cy="168227"/>
              </a:xfrm>
              <a:custGeom>
                <a:avLst/>
                <a:gdLst/>
                <a:ahLst/>
                <a:cxnLst/>
                <a:rect r="r" b="b" t="t" l="l"/>
                <a:pathLst>
                  <a:path h="168227" w="1651750">
                    <a:moveTo>
                      <a:pt x="84114" y="0"/>
                    </a:moveTo>
                    <a:lnTo>
                      <a:pt x="1567636" y="0"/>
                    </a:lnTo>
                    <a:cubicBezTo>
                      <a:pt x="1614091" y="0"/>
                      <a:pt x="1651750" y="37659"/>
                      <a:pt x="1651750" y="84114"/>
                    </a:cubicBezTo>
                    <a:lnTo>
                      <a:pt x="1651750" y="84114"/>
                    </a:lnTo>
                    <a:cubicBezTo>
                      <a:pt x="1651750" y="106422"/>
                      <a:pt x="1642888" y="127816"/>
                      <a:pt x="1627114" y="143591"/>
                    </a:cubicBezTo>
                    <a:cubicBezTo>
                      <a:pt x="1611339" y="159365"/>
                      <a:pt x="1589945" y="168227"/>
                      <a:pt x="1567636"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12" id="12"/>
              <p:cNvSpPr txBox="true"/>
              <p:nvPr/>
            </p:nvSpPr>
            <p:spPr>
              <a:xfrm>
                <a:off x="0" y="-38100"/>
                <a:ext cx="1651750" cy="206327"/>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53900" y="73198"/>
              <a:ext cx="5827738" cy="487241"/>
            </a:xfrm>
            <a:prstGeom prst="rect">
              <a:avLst/>
            </a:prstGeom>
          </p:spPr>
          <p:txBody>
            <a:bodyPr anchor="t" rtlCol="false" tIns="0" lIns="0" bIns="0" rIns="0">
              <a:spAutoFit/>
            </a:bodyPr>
            <a:lstStyle/>
            <a:p>
              <a:pPr algn="l" marL="529352" indent="-264676" lvl="1">
                <a:lnSpc>
                  <a:spcPts val="3064"/>
                </a:lnSpc>
                <a:buAutoNum type="arabicPeriod" startAt="1"/>
              </a:pPr>
              <a:r>
                <a:rPr lang="en-US" b="true" sz="2451">
                  <a:solidFill>
                    <a:srgbClr val="20562E"/>
                  </a:solidFill>
                  <a:latin typeface="Canva Sans Bold"/>
                  <a:ea typeface="Canva Sans Bold"/>
                  <a:cs typeface="Canva Sans Bold"/>
                  <a:sym typeface="Canva Sans Bold"/>
                </a:rPr>
                <a:t>Smart Contract Module</a:t>
              </a:r>
            </a:p>
          </p:txBody>
        </p:sp>
        <p:sp>
          <p:nvSpPr>
            <p:cNvPr name="TextBox 14" id="14"/>
            <p:cNvSpPr txBox="true"/>
            <p:nvPr/>
          </p:nvSpPr>
          <p:spPr>
            <a:xfrm rot="0">
              <a:off x="0" y="891545"/>
              <a:ext cx="10302832" cy="2011241"/>
            </a:xfrm>
            <a:prstGeom prst="rect">
              <a:avLst/>
            </a:prstGeom>
          </p:spPr>
          <p:txBody>
            <a:bodyPr anchor="t" rtlCol="false" tIns="0" lIns="0" bIns="0" rIns="0">
              <a:spAutoFit/>
            </a:bodyPr>
            <a:lstStyle/>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Policy c</a:t>
              </a:r>
              <a:r>
                <a:rPr lang="en-US" sz="2451">
                  <a:solidFill>
                    <a:srgbClr val="20562E"/>
                  </a:solidFill>
                  <a:latin typeface="Canva Sans"/>
                  <a:ea typeface="Canva Sans"/>
                  <a:cs typeface="Canva Sans"/>
                  <a:sym typeface="Canva Sans"/>
                </a:rPr>
                <a:t>reation and storage</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Rainfall threshold validation</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Aut</a:t>
              </a:r>
              <a:r>
                <a:rPr lang="en-US" sz="2451">
                  <a:solidFill>
                    <a:srgbClr val="20562E"/>
                  </a:solidFill>
                  <a:latin typeface="Canva Sans"/>
                  <a:ea typeface="Canva Sans"/>
                  <a:cs typeface="Canva Sans"/>
                  <a:sym typeface="Canva Sans"/>
                </a:rPr>
                <a:t>omatic claim processing</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S</a:t>
              </a:r>
              <a:r>
                <a:rPr lang="en-US" sz="2451">
                  <a:solidFill>
                    <a:srgbClr val="20562E"/>
                  </a:solidFill>
                  <a:latin typeface="Canva Sans"/>
                  <a:ea typeface="Canva Sans"/>
                  <a:cs typeface="Canva Sans"/>
                  <a:sym typeface="Canva Sans"/>
                </a:rPr>
                <a:t>ecure fund management</a:t>
              </a:r>
            </a:p>
          </p:txBody>
        </p:sp>
      </p:grpSp>
      <p:grpSp>
        <p:nvGrpSpPr>
          <p:cNvPr name="Group 15" id="15"/>
          <p:cNvGrpSpPr/>
          <p:nvPr/>
        </p:nvGrpSpPr>
        <p:grpSpPr>
          <a:xfrm rot="0">
            <a:off x="1543952" y="6133734"/>
            <a:ext cx="7727124" cy="1796090"/>
            <a:chOff x="0" y="0"/>
            <a:chExt cx="10302832" cy="2394786"/>
          </a:xfrm>
        </p:grpSpPr>
        <p:grpSp>
          <p:nvGrpSpPr>
            <p:cNvPr name="Group 16" id="16"/>
            <p:cNvGrpSpPr/>
            <p:nvPr/>
          </p:nvGrpSpPr>
          <p:grpSpPr>
            <a:xfrm rot="-10800000">
              <a:off x="0" y="0"/>
              <a:ext cx="6221423" cy="633638"/>
              <a:chOff x="0" y="0"/>
              <a:chExt cx="1651750" cy="168227"/>
            </a:xfrm>
          </p:grpSpPr>
          <p:sp>
            <p:nvSpPr>
              <p:cNvPr name="Freeform 17" id="17"/>
              <p:cNvSpPr/>
              <p:nvPr/>
            </p:nvSpPr>
            <p:spPr>
              <a:xfrm flipH="false" flipV="false" rot="0">
                <a:off x="0" y="0"/>
                <a:ext cx="1651750" cy="168227"/>
              </a:xfrm>
              <a:custGeom>
                <a:avLst/>
                <a:gdLst/>
                <a:ahLst/>
                <a:cxnLst/>
                <a:rect r="r" b="b" t="t" l="l"/>
                <a:pathLst>
                  <a:path h="168227" w="1651750">
                    <a:moveTo>
                      <a:pt x="84114" y="0"/>
                    </a:moveTo>
                    <a:lnTo>
                      <a:pt x="1567636" y="0"/>
                    </a:lnTo>
                    <a:cubicBezTo>
                      <a:pt x="1614091" y="0"/>
                      <a:pt x="1651750" y="37659"/>
                      <a:pt x="1651750" y="84114"/>
                    </a:cubicBezTo>
                    <a:lnTo>
                      <a:pt x="1651750" y="84114"/>
                    </a:lnTo>
                    <a:cubicBezTo>
                      <a:pt x="1651750" y="106422"/>
                      <a:pt x="1642888" y="127816"/>
                      <a:pt x="1627114" y="143591"/>
                    </a:cubicBezTo>
                    <a:cubicBezTo>
                      <a:pt x="1611339" y="159365"/>
                      <a:pt x="1589945" y="168227"/>
                      <a:pt x="1567636"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18" id="18"/>
              <p:cNvSpPr txBox="true"/>
              <p:nvPr/>
            </p:nvSpPr>
            <p:spPr>
              <a:xfrm>
                <a:off x="0" y="-38100"/>
                <a:ext cx="1651750" cy="206327"/>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53900" y="73198"/>
              <a:ext cx="5827738" cy="487241"/>
            </a:xfrm>
            <a:prstGeom prst="rect">
              <a:avLst/>
            </a:prstGeom>
          </p:spPr>
          <p:txBody>
            <a:bodyPr anchor="t" rtlCol="false" tIns="0" lIns="0" bIns="0" rIns="0">
              <a:spAutoFit/>
            </a:bodyPr>
            <a:lstStyle/>
            <a:p>
              <a:pPr algn="l" marL="529352" indent="-264676" lvl="1">
                <a:lnSpc>
                  <a:spcPts val="3064"/>
                </a:lnSpc>
                <a:buAutoNum type="arabicPeriod" startAt="1"/>
              </a:pPr>
              <a:r>
                <a:rPr lang="en-US" b="true" sz="2451">
                  <a:solidFill>
                    <a:srgbClr val="20562E"/>
                  </a:solidFill>
                  <a:latin typeface="Canva Sans Bold"/>
                  <a:ea typeface="Canva Sans Bold"/>
                  <a:cs typeface="Canva Sans Bold"/>
                  <a:sym typeface="Canva Sans Bold"/>
                </a:rPr>
                <a:t>Oracle Module</a:t>
              </a:r>
            </a:p>
          </p:txBody>
        </p:sp>
        <p:sp>
          <p:nvSpPr>
            <p:cNvPr name="TextBox 20" id="20"/>
            <p:cNvSpPr txBox="true"/>
            <p:nvPr/>
          </p:nvSpPr>
          <p:spPr>
            <a:xfrm rot="0">
              <a:off x="0" y="891545"/>
              <a:ext cx="10302832" cy="1503241"/>
            </a:xfrm>
            <a:prstGeom prst="rect">
              <a:avLst/>
            </a:prstGeom>
          </p:spPr>
          <p:txBody>
            <a:bodyPr anchor="t" rtlCol="false" tIns="0" lIns="0" bIns="0" rIns="0">
              <a:spAutoFit/>
            </a:bodyPr>
            <a:lstStyle/>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Fetches real-time rainfall data</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Sends verified data to smart contract</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Ensures trustless automation</a:t>
              </a:r>
            </a:p>
          </p:txBody>
        </p:sp>
      </p:grpSp>
      <p:grpSp>
        <p:nvGrpSpPr>
          <p:cNvPr name="Group 21" id="21"/>
          <p:cNvGrpSpPr/>
          <p:nvPr/>
        </p:nvGrpSpPr>
        <p:grpSpPr>
          <a:xfrm rot="0">
            <a:off x="9144000" y="6133734"/>
            <a:ext cx="4666067" cy="475229"/>
            <a:chOff x="0" y="0"/>
            <a:chExt cx="6221423" cy="633638"/>
          </a:xfrm>
        </p:grpSpPr>
        <p:grpSp>
          <p:nvGrpSpPr>
            <p:cNvPr name="Group 22" id="22"/>
            <p:cNvGrpSpPr/>
            <p:nvPr/>
          </p:nvGrpSpPr>
          <p:grpSpPr>
            <a:xfrm rot="-10800000">
              <a:off x="0" y="0"/>
              <a:ext cx="6221423" cy="633638"/>
              <a:chOff x="0" y="0"/>
              <a:chExt cx="1651750" cy="168227"/>
            </a:xfrm>
          </p:grpSpPr>
          <p:sp>
            <p:nvSpPr>
              <p:cNvPr name="Freeform 23" id="23"/>
              <p:cNvSpPr/>
              <p:nvPr/>
            </p:nvSpPr>
            <p:spPr>
              <a:xfrm flipH="false" flipV="false" rot="0">
                <a:off x="0" y="0"/>
                <a:ext cx="1651750" cy="168227"/>
              </a:xfrm>
              <a:custGeom>
                <a:avLst/>
                <a:gdLst/>
                <a:ahLst/>
                <a:cxnLst/>
                <a:rect r="r" b="b" t="t" l="l"/>
                <a:pathLst>
                  <a:path h="168227" w="1651750">
                    <a:moveTo>
                      <a:pt x="84114" y="0"/>
                    </a:moveTo>
                    <a:lnTo>
                      <a:pt x="1567636" y="0"/>
                    </a:lnTo>
                    <a:cubicBezTo>
                      <a:pt x="1614091" y="0"/>
                      <a:pt x="1651750" y="37659"/>
                      <a:pt x="1651750" y="84114"/>
                    </a:cubicBezTo>
                    <a:lnTo>
                      <a:pt x="1651750" y="84114"/>
                    </a:lnTo>
                    <a:cubicBezTo>
                      <a:pt x="1651750" y="106422"/>
                      <a:pt x="1642888" y="127816"/>
                      <a:pt x="1627114" y="143591"/>
                    </a:cubicBezTo>
                    <a:cubicBezTo>
                      <a:pt x="1611339" y="159365"/>
                      <a:pt x="1589945" y="168227"/>
                      <a:pt x="1567636" y="168227"/>
                    </a:cubicBezTo>
                    <a:lnTo>
                      <a:pt x="84114" y="168227"/>
                    </a:lnTo>
                    <a:cubicBezTo>
                      <a:pt x="61805" y="168227"/>
                      <a:pt x="40411" y="159365"/>
                      <a:pt x="24636" y="143591"/>
                    </a:cubicBezTo>
                    <a:cubicBezTo>
                      <a:pt x="8862" y="127816"/>
                      <a:pt x="0" y="106422"/>
                      <a:pt x="0" y="84114"/>
                    </a:cubicBezTo>
                    <a:lnTo>
                      <a:pt x="0" y="84114"/>
                    </a:lnTo>
                    <a:cubicBezTo>
                      <a:pt x="0" y="61805"/>
                      <a:pt x="8862" y="40411"/>
                      <a:pt x="24636" y="24636"/>
                    </a:cubicBezTo>
                    <a:cubicBezTo>
                      <a:pt x="40411" y="8862"/>
                      <a:pt x="61805" y="0"/>
                      <a:pt x="84114" y="0"/>
                    </a:cubicBezTo>
                    <a:close/>
                  </a:path>
                </a:pathLst>
              </a:custGeom>
              <a:solidFill>
                <a:srgbClr val="FFFBF4"/>
              </a:solidFill>
            </p:spPr>
          </p:sp>
          <p:sp>
            <p:nvSpPr>
              <p:cNvPr name="TextBox 24" id="24"/>
              <p:cNvSpPr txBox="true"/>
              <p:nvPr/>
            </p:nvSpPr>
            <p:spPr>
              <a:xfrm>
                <a:off x="0" y="-38100"/>
                <a:ext cx="1651750" cy="206327"/>
              </a:xfrm>
              <a:prstGeom prst="rect">
                <a:avLst/>
              </a:prstGeom>
            </p:spPr>
            <p:txBody>
              <a:bodyPr anchor="ctr" rtlCol="false" tIns="50800" lIns="50800" bIns="50800" rIns="50800"/>
              <a:lstStyle/>
              <a:p>
                <a:pPr algn="ctr">
                  <a:lnSpc>
                    <a:spcPts val="2659"/>
                  </a:lnSpc>
                  <a:spcBef>
                    <a:spcPct val="0"/>
                  </a:spcBef>
                </a:pPr>
              </a:p>
            </p:txBody>
          </p:sp>
        </p:grpSp>
        <p:sp>
          <p:nvSpPr>
            <p:cNvPr name="TextBox 25" id="25"/>
            <p:cNvSpPr txBox="true"/>
            <p:nvPr/>
          </p:nvSpPr>
          <p:spPr>
            <a:xfrm rot="0">
              <a:off x="53900" y="73198"/>
              <a:ext cx="5827738" cy="487241"/>
            </a:xfrm>
            <a:prstGeom prst="rect">
              <a:avLst/>
            </a:prstGeom>
          </p:spPr>
          <p:txBody>
            <a:bodyPr anchor="t" rtlCol="false" tIns="0" lIns="0" bIns="0" rIns="0">
              <a:spAutoFit/>
            </a:bodyPr>
            <a:lstStyle/>
            <a:p>
              <a:pPr algn="l" marL="529352" indent="-264676" lvl="1">
                <a:lnSpc>
                  <a:spcPts val="3064"/>
                </a:lnSpc>
                <a:buAutoNum type="arabicPeriod" startAt="1"/>
              </a:pPr>
              <a:r>
                <a:rPr lang="en-US" b="true" sz="2451">
                  <a:solidFill>
                    <a:srgbClr val="20562E"/>
                  </a:solidFill>
                  <a:latin typeface="Canva Sans Bold"/>
                  <a:ea typeface="Canva Sans Bold"/>
                  <a:cs typeface="Canva Sans Bold"/>
                  <a:sym typeface="Canva Sans Bold"/>
                </a:rPr>
                <a:t>Admin Module</a:t>
              </a:r>
            </a:p>
          </p:txBody>
        </p:sp>
      </p:grpSp>
      <p:sp>
        <p:nvSpPr>
          <p:cNvPr name="TextBox 26" id="26"/>
          <p:cNvSpPr txBox="true"/>
          <p:nvPr/>
        </p:nvSpPr>
        <p:spPr>
          <a:xfrm rot="0">
            <a:off x="9144000" y="6802393"/>
            <a:ext cx="7727124" cy="1127431"/>
          </a:xfrm>
          <a:prstGeom prst="rect">
            <a:avLst/>
          </a:prstGeom>
        </p:spPr>
        <p:txBody>
          <a:bodyPr anchor="t" rtlCol="false" tIns="0" lIns="0" bIns="0" rIns="0">
            <a:spAutoFit/>
          </a:bodyPr>
          <a:lstStyle/>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S</a:t>
            </a:r>
            <a:r>
              <a:rPr lang="en-US" sz="2451">
                <a:solidFill>
                  <a:srgbClr val="20562E"/>
                </a:solidFill>
                <a:latin typeface="Canva Sans"/>
                <a:ea typeface="Canva Sans"/>
                <a:cs typeface="Canva Sans"/>
                <a:sym typeface="Canva Sans"/>
              </a:rPr>
              <a:t>et insurance parameters</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Monitor contract activity</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Manage policy rules</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800335" y="1525724"/>
            <a:ext cx="13749312" cy="1525648"/>
          </a:xfrm>
          <a:prstGeom prst="rect">
            <a:avLst/>
          </a:prstGeom>
        </p:spPr>
        <p:txBody>
          <a:bodyPr anchor="t" rtlCol="false" tIns="0" lIns="0" bIns="0" rIns="0">
            <a:spAutoFit/>
          </a:bodyPr>
          <a:lstStyle/>
          <a:p>
            <a:pPr algn="l">
              <a:lnSpc>
                <a:spcPts val="12509"/>
              </a:lnSpc>
              <a:spcBef>
                <a:spcPct val="0"/>
              </a:spcBef>
            </a:pPr>
            <a:r>
              <a:rPr lang="en-US" sz="8935" b="true">
                <a:solidFill>
                  <a:srgbClr val="20562E"/>
                </a:solidFill>
                <a:latin typeface="Bricolage Grotesque Bold"/>
                <a:ea typeface="Bricolage Grotesque Bold"/>
                <a:cs typeface="Bricolage Grotesque Bold"/>
                <a:sym typeface="Bricolage Grotesque Bold"/>
              </a:rPr>
              <a:t>Team R</a:t>
            </a:r>
            <a:r>
              <a:rPr lang="en-US" b="true" sz="8935">
                <a:solidFill>
                  <a:srgbClr val="20562E"/>
                </a:solidFill>
                <a:latin typeface="Bricolage Grotesque Bold"/>
                <a:ea typeface="Bricolage Grotesque Bold"/>
                <a:cs typeface="Bricolage Grotesque Bold"/>
                <a:sym typeface="Bricolage Grotesque Bold"/>
              </a:rPr>
              <a:t>oles and Timeline</a:t>
            </a:r>
          </a:p>
        </p:txBody>
      </p:sp>
      <p:sp>
        <p:nvSpPr>
          <p:cNvPr name="TextBox 3" id="3"/>
          <p:cNvSpPr txBox="true"/>
          <p:nvPr/>
        </p:nvSpPr>
        <p:spPr>
          <a:xfrm rot="0">
            <a:off x="1800335" y="6403919"/>
            <a:ext cx="10231409" cy="1897860"/>
          </a:xfrm>
          <a:prstGeom prst="rect">
            <a:avLst/>
          </a:prstGeom>
        </p:spPr>
        <p:txBody>
          <a:bodyPr anchor="t" rtlCol="false" tIns="0" lIns="0" bIns="0" rIns="0">
            <a:spAutoFit/>
          </a:bodyPr>
          <a:lstStyle/>
          <a:p>
            <a:pPr algn="just">
              <a:lnSpc>
                <a:spcPts val="3898"/>
              </a:lnSpc>
            </a:pPr>
            <a:r>
              <a:rPr lang="en-US" b="true" sz="2451">
                <a:solidFill>
                  <a:srgbClr val="20562E"/>
                </a:solidFill>
                <a:latin typeface="Canva Sans Bold"/>
                <a:ea typeface="Canva Sans Bold"/>
                <a:cs typeface="Canva Sans Bold"/>
                <a:sym typeface="Canva Sans Bold"/>
              </a:rPr>
              <a:t>E</a:t>
            </a:r>
            <a:r>
              <a:rPr lang="en-US" b="true" sz="2451">
                <a:solidFill>
                  <a:srgbClr val="20562E"/>
                </a:solidFill>
                <a:latin typeface="Canva Sans Bold"/>
                <a:ea typeface="Canva Sans Bold"/>
                <a:cs typeface="Canva Sans Bold"/>
                <a:sym typeface="Canva Sans Bold"/>
              </a:rPr>
              <a:t>liminates manual claim processing</a:t>
            </a:r>
          </a:p>
          <a:p>
            <a:pPr algn="just">
              <a:lnSpc>
                <a:spcPts val="3898"/>
              </a:lnSpc>
            </a:pPr>
            <a:r>
              <a:rPr lang="en-US" b="true" sz="2451">
                <a:solidFill>
                  <a:srgbClr val="20562E"/>
                </a:solidFill>
                <a:latin typeface="Canva Sans Bold"/>
                <a:ea typeface="Canva Sans Bold"/>
                <a:cs typeface="Canva Sans Bold"/>
                <a:sym typeface="Canva Sans Bold"/>
              </a:rPr>
              <a:t>Ensures transparency and trust</a:t>
            </a:r>
          </a:p>
          <a:p>
            <a:pPr algn="just">
              <a:lnSpc>
                <a:spcPts val="3898"/>
              </a:lnSpc>
            </a:pPr>
            <a:r>
              <a:rPr lang="en-US" b="true" sz="2451">
                <a:solidFill>
                  <a:srgbClr val="20562E"/>
                </a:solidFill>
                <a:latin typeface="Canva Sans Bold"/>
                <a:ea typeface="Canva Sans Bold"/>
                <a:cs typeface="Canva Sans Bold"/>
                <a:sym typeface="Canva Sans Bold"/>
              </a:rPr>
              <a:t>Reduces fraud and delays</a:t>
            </a:r>
          </a:p>
          <a:p>
            <a:pPr algn="just">
              <a:lnSpc>
                <a:spcPts val="3898"/>
              </a:lnSpc>
            </a:pPr>
            <a:r>
              <a:rPr lang="en-US" b="true" sz="2451">
                <a:solidFill>
                  <a:srgbClr val="20562E"/>
                </a:solidFill>
                <a:latin typeface="Canva Sans Bold"/>
                <a:ea typeface="Canva Sans Bold"/>
                <a:cs typeface="Canva Sans Bold"/>
                <a:sym typeface="Canva Sans Bold"/>
              </a:rPr>
              <a:t>Demonstrates real-world blockchain application in agriculture</a:t>
            </a:r>
          </a:p>
        </p:txBody>
      </p:sp>
      <p:grpSp>
        <p:nvGrpSpPr>
          <p:cNvPr name="Group 4" id="4"/>
          <p:cNvGrpSpPr/>
          <p:nvPr/>
        </p:nvGrpSpPr>
        <p:grpSpPr>
          <a:xfrm rot="0">
            <a:off x="1819385" y="3602574"/>
            <a:ext cx="6173314" cy="1944095"/>
            <a:chOff x="0" y="0"/>
            <a:chExt cx="8231086" cy="2592127"/>
          </a:xfrm>
        </p:grpSpPr>
        <p:grpSp>
          <p:nvGrpSpPr>
            <p:cNvPr name="Group 5" id="5"/>
            <p:cNvGrpSpPr/>
            <p:nvPr/>
          </p:nvGrpSpPr>
          <p:grpSpPr>
            <a:xfrm rot="-10800000">
              <a:off x="0" y="0"/>
              <a:ext cx="7234302" cy="745986"/>
              <a:chOff x="0" y="0"/>
              <a:chExt cx="1920663" cy="198055"/>
            </a:xfrm>
          </p:grpSpPr>
          <p:sp>
            <p:nvSpPr>
              <p:cNvPr name="Freeform 6" id="6"/>
              <p:cNvSpPr/>
              <p:nvPr/>
            </p:nvSpPr>
            <p:spPr>
              <a:xfrm flipH="false" flipV="false" rot="0">
                <a:off x="0" y="0"/>
                <a:ext cx="1920663" cy="198055"/>
              </a:xfrm>
              <a:custGeom>
                <a:avLst/>
                <a:gdLst/>
                <a:ahLst/>
                <a:cxnLst/>
                <a:rect r="r" b="b" t="t" l="l"/>
                <a:pathLst>
                  <a:path h="198055" w="1920663">
                    <a:moveTo>
                      <a:pt x="99027" y="0"/>
                    </a:moveTo>
                    <a:lnTo>
                      <a:pt x="1821636" y="0"/>
                    </a:lnTo>
                    <a:cubicBezTo>
                      <a:pt x="1876327" y="0"/>
                      <a:pt x="1920663" y="44336"/>
                      <a:pt x="1920663" y="99027"/>
                    </a:cubicBezTo>
                    <a:lnTo>
                      <a:pt x="1920663" y="99027"/>
                    </a:lnTo>
                    <a:cubicBezTo>
                      <a:pt x="1920663" y="153719"/>
                      <a:pt x="1876327" y="198055"/>
                      <a:pt x="1821636" y="198055"/>
                    </a:cubicBezTo>
                    <a:lnTo>
                      <a:pt x="99027" y="198055"/>
                    </a:lnTo>
                    <a:cubicBezTo>
                      <a:pt x="44336" y="198055"/>
                      <a:pt x="0" y="153719"/>
                      <a:pt x="0" y="99027"/>
                    </a:cubicBezTo>
                    <a:lnTo>
                      <a:pt x="0" y="99027"/>
                    </a:lnTo>
                    <a:cubicBezTo>
                      <a:pt x="0" y="44336"/>
                      <a:pt x="44336" y="0"/>
                      <a:pt x="99027" y="0"/>
                    </a:cubicBezTo>
                    <a:close/>
                  </a:path>
                </a:pathLst>
              </a:custGeom>
              <a:solidFill>
                <a:srgbClr val="FFFBF4"/>
              </a:solidFill>
            </p:spPr>
          </p:sp>
          <p:sp>
            <p:nvSpPr>
              <p:cNvPr name="TextBox 7" id="7"/>
              <p:cNvSpPr txBox="true"/>
              <p:nvPr/>
            </p:nvSpPr>
            <p:spPr>
              <a:xfrm>
                <a:off x="0" y="-38100"/>
                <a:ext cx="1920663" cy="23615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381392" y="129372"/>
              <a:ext cx="6471517" cy="487241"/>
            </a:xfrm>
            <a:prstGeom prst="rect">
              <a:avLst/>
            </a:prstGeom>
          </p:spPr>
          <p:txBody>
            <a:bodyPr anchor="t" rtlCol="false" tIns="0" lIns="0" bIns="0" rIns="0">
              <a:spAutoFit/>
            </a:bodyPr>
            <a:lstStyle/>
            <a:p>
              <a:pPr algn="l">
                <a:lnSpc>
                  <a:spcPts val="3064"/>
                </a:lnSpc>
              </a:pPr>
              <a:r>
                <a:rPr lang="en-US" sz="2451" b="true">
                  <a:solidFill>
                    <a:srgbClr val="20562E"/>
                  </a:solidFill>
                  <a:latin typeface="Canva Sans Bold"/>
                  <a:ea typeface="Canva Sans Bold"/>
                  <a:cs typeface="Canva Sans Bold"/>
                  <a:sym typeface="Canva Sans Bold"/>
                </a:rPr>
                <a:t>Member 1 (Priyanka Sen)</a:t>
              </a:r>
            </a:p>
          </p:txBody>
        </p:sp>
        <p:sp>
          <p:nvSpPr>
            <p:cNvPr name="TextBox 9" id="9"/>
            <p:cNvSpPr txBox="true"/>
            <p:nvPr/>
          </p:nvSpPr>
          <p:spPr>
            <a:xfrm rot="0">
              <a:off x="0" y="1088886"/>
              <a:ext cx="8231086" cy="1503241"/>
            </a:xfrm>
            <a:prstGeom prst="rect">
              <a:avLst/>
            </a:prstGeom>
          </p:spPr>
          <p:txBody>
            <a:bodyPr anchor="t" rtlCol="false" tIns="0" lIns="0" bIns="0" rIns="0">
              <a:spAutoFit/>
            </a:bodyPr>
            <a:lstStyle/>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Smart Contract Development</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Blockchain Logic</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Testing &amp; Deployment</a:t>
              </a:r>
            </a:p>
          </p:txBody>
        </p:sp>
      </p:grpSp>
      <p:grpSp>
        <p:nvGrpSpPr>
          <p:cNvPr name="Group 10" id="10"/>
          <p:cNvGrpSpPr/>
          <p:nvPr/>
        </p:nvGrpSpPr>
        <p:grpSpPr>
          <a:xfrm rot="0">
            <a:off x="9761186" y="3602574"/>
            <a:ext cx="6173314" cy="1944095"/>
            <a:chOff x="0" y="0"/>
            <a:chExt cx="8231086" cy="2592127"/>
          </a:xfrm>
        </p:grpSpPr>
        <p:grpSp>
          <p:nvGrpSpPr>
            <p:cNvPr name="Group 11" id="11"/>
            <p:cNvGrpSpPr/>
            <p:nvPr/>
          </p:nvGrpSpPr>
          <p:grpSpPr>
            <a:xfrm rot="-10800000">
              <a:off x="0" y="0"/>
              <a:ext cx="7234302" cy="745986"/>
              <a:chOff x="0" y="0"/>
              <a:chExt cx="1920663" cy="198055"/>
            </a:xfrm>
          </p:grpSpPr>
          <p:sp>
            <p:nvSpPr>
              <p:cNvPr name="Freeform 12" id="12"/>
              <p:cNvSpPr/>
              <p:nvPr/>
            </p:nvSpPr>
            <p:spPr>
              <a:xfrm flipH="false" flipV="false" rot="0">
                <a:off x="0" y="0"/>
                <a:ext cx="1920663" cy="198055"/>
              </a:xfrm>
              <a:custGeom>
                <a:avLst/>
                <a:gdLst/>
                <a:ahLst/>
                <a:cxnLst/>
                <a:rect r="r" b="b" t="t" l="l"/>
                <a:pathLst>
                  <a:path h="198055" w="1920663">
                    <a:moveTo>
                      <a:pt x="99027" y="0"/>
                    </a:moveTo>
                    <a:lnTo>
                      <a:pt x="1821636" y="0"/>
                    </a:lnTo>
                    <a:cubicBezTo>
                      <a:pt x="1876327" y="0"/>
                      <a:pt x="1920663" y="44336"/>
                      <a:pt x="1920663" y="99027"/>
                    </a:cubicBezTo>
                    <a:lnTo>
                      <a:pt x="1920663" y="99027"/>
                    </a:lnTo>
                    <a:cubicBezTo>
                      <a:pt x="1920663" y="153719"/>
                      <a:pt x="1876327" y="198055"/>
                      <a:pt x="1821636" y="198055"/>
                    </a:cubicBezTo>
                    <a:lnTo>
                      <a:pt x="99027" y="198055"/>
                    </a:lnTo>
                    <a:cubicBezTo>
                      <a:pt x="44336" y="198055"/>
                      <a:pt x="0" y="153719"/>
                      <a:pt x="0" y="99027"/>
                    </a:cubicBezTo>
                    <a:lnTo>
                      <a:pt x="0" y="99027"/>
                    </a:lnTo>
                    <a:cubicBezTo>
                      <a:pt x="0" y="44336"/>
                      <a:pt x="44336" y="0"/>
                      <a:pt x="99027" y="0"/>
                    </a:cubicBezTo>
                    <a:close/>
                  </a:path>
                </a:pathLst>
              </a:custGeom>
              <a:solidFill>
                <a:srgbClr val="FFFBF4"/>
              </a:solidFill>
            </p:spPr>
          </p:sp>
          <p:sp>
            <p:nvSpPr>
              <p:cNvPr name="TextBox 13" id="13"/>
              <p:cNvSpPr txBox="true"/>
              <p:nvPr/>
            </p:nvSpPr>
            <p:spPr>
              <a:xfrm>
                <a:off x="0" y="-38100"/>
                <a:ext cx="1920663" cy="236155"/>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81392" y="129372"/>
              <a:ext cx="6471517" cy="487241"/>
            </a:xfrm>
            <a:prstGeom prst="rect">
              <a:avLst/>
            </a:prstGeom>
          </p:spPr>
          <p:txBody>
            <a:bodyPr anchor="t" rtlCol="false" tIns="0" lIns="0" bIns="0" rIns="0">
              <a:spAutoFit/>
            </a:bodyPr>
            <a:lstStyle/>
            <a:p>
              <a:pPr algn="l">
                <a:lnSpc>
                  <a:spcPts val="3064"/>
                </a:lnSpc>
              </a:pPr>
              <a:r>
                <a:rPr lang="en-US" sz="2451" b="true">
                  <a:solidFill>
                    <a:srgbClr val="20562E"/>
                  </a:solidFill>
                  <a:latin typeface="Canva Sans Bold"/>
                  <a:ea typeface="Canva Sans Bold"/>
                  <a:cs typeface="Canva Sans Bold"/>
                  <a:sym typeface="Canva Sans Bold"/>
                </a:rPr>
                <a:t>Member 2 (Harshita Jaiswal)</a:t>
              </a:r>
            </a:p>
          </p:txBody>
        </p:sp>
        <p:sp>
          <p:nvSpPr>
            <p:cNvPr name="TextBox 15" id="15"/>
            <p:cNvSpPr txBox="true"/>
            <p:nvPr/>
          </p:nvSpPr>
          <p:spPr>
            <a:xfrm rot="0">
              <a:off x="0" y="1088886"/>
              <a:ext cx="8231086" cy="1503241"/>
            </a:xfrm>
            <a:prstGeom prst="rect">
              <a:avLst/>
            </a:prstGeom>
          </p:spPr>
          <p:txBody>
            <a:bodyPr anchor="t" rtlCol="false" tIns="0" lIns="0" bIns="0" rIns="0">
              <a:spAutoFit/>
            </a:bodyPr>
            <a:lstStyle/>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Oracle Integration</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Weather API Handling</a:t>
              </a:r>
            </a:p>
            <a:p>
              <a:pPr algn="just" marL="529352" indent="-264676" lvl="1">
                <a:lnSpc>
                  <a:spcPts val="3064"/>
                </a:lnSpc>
                <a:buFont typeface="Arial"/>
                <a:buChar char="•"/>
              </a:pPr>
              <a:r>
                <a:rPr lang="en-US" sz="2451">
                  <a:solidFill>
                    <a:srgbClr val="20562E"/>
                  </a:solidFill>
                  <a:latin typeface="Canva Sans"/>
                  <a:ea typeface="Canva Sans"/>
                  <a:cs typeface="Canva Sans"/>
                  <a:sym typeface="Canva Sans"/>
                </a:rPr>
                <a:t>Backend Support</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657072"/>
            <a:ext cx="13302222" cy="6601228"/>
          </a:xfrm>
          <a:custGeom>
            <a:avLst/>
            <a:gdLst/>
            <a:ahLst/>
            <a:cxnLst/>
            <a:rect r="r" b="b" t="t" l="l"/>
            <a:pathLst>
              <a:path h="6601228" w="13302222">
                <a:moveTo>
                  <a:pt x="0" y="0"/>
                </a:moveTo>
                <a:lnTo>
                  <a:pt x="13302222" y="0"/>
                </a:lnTo>
                <a:lnTo>
                  <a:pt x="13302222" y="6601228"/>
                </a:lnTo>
                <a:lnTo>
                  <a:pt x="0" y="6601228"/>
                </a:lnTo>
                <a:lnTo>
                  <a:pt x="0" y="0"/>
                </a:lnTo>
                <a:close/>
              </a:path>
            </a:pathLst>
          </a:custGeom>
          <a:blipFill>
            <a:blip r:embed="rId2"/>
            <a:stretch>
              <a:fillRect l="0" t="0" r="0" b="0"/>
            </a:stretch>
          </a:blipFill>
        </p:spPr>
      </p:sp>
      <p:sp>
        <p:nvSpPr>
          <p:cNvPr name="TextBox 3" id="3"/>
          <p:cNvSpPr txBox="true"/>
          <p:nvPr/>
        </p:nvSpPr>
        <p:spPr>
          <a:xfrm rot="0">
            <a:off x="1028700" y="1304925"/>
            <a:ext cx="13915532" cy="937896"/>
          </a:xfrm>
          <a:prstGeom prst="rect">
            <a:avLst/>
          </a:prstGeom>
        </p:spPr>
        <p:txBody>
          <a:bodyPr anchor="t" rtlCol="false" tIns="0" lIns="0" bIns="0" rIns="0">
            <a:spAutoFit/>
          </a:bodyPr>
          <a:lstStyle/>
          <a:p>
            <a:pPr algn="l">
              <a:lnSpc>
                <a:spcPts val="6640"/>
              </a:lnSpc>
            </a:pPr>
            <a:r>
              <a:rPr lang="en-US" sz="8000" b="true">
                <a:solidFill>
                  <a:srgbClr val="20562E"/>
                </a:solidFill>
                <a:latin typeface="Bricolage Grotesque Bold"/>
                <a:ea typeface="Bricolage Grotesque Bold"/>
                <a:cs typeface="Bricolage Grotesque Bold"/>
                <a:sym typeface="Bricolage Grotesque Bold"/>
              </a:rPr>
              <a:t>Scrum Based Agile Board</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Freeform 2" id="2"/>
          <p:cNvSpPr/>
          <p:nvPr/>
        </p:nvSpPr>
        <p:spPr>
          <a:xfrm flipH="false" flipV="false" rot="0">
            <a:off x="2702647" y="1391412"/>
            <a:ext cx="12882706" cy="7504176"/>
          </a:xfrm>
          <a:custGeom>
            <a:avLst/>
            <a:gdLst/>
            <a:ahLst/>
            <a:cxnLst/>
            <a:rect r="r" b="b" t="t" l="l"/>
            <a:pathLst>
              <a:path h="7504176" w="12882706">
                <a:moveTo>
                  <a:pt x="0" y="0"/>
                </a:moveTo>
                <a:lnTo>
                  <a:pt x="12882706" y="0"/>
                </a:lnTo>
                <a:lnTo>
                  <a:pt x="12882706" y="7504176"/>
                </a:lnTo>
                <a:lnTo>
                  <a:pt x="0" y="7504176"/>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BF4"/>
        </a:solidFill>
      </p:bgPr>
    </p:bg>
    <p:spTree>
      <p:nvGrpSpPr>
        <p:cNvPr id="1" name=""/>
        <p:cNvGrpSpPr/>
        <p:nvPr/>
      </p:nvGrpSpPr>
      <p:grpSpPr>
        <a:xfrm>
          <a:off x="0" y="0"/>
          <a:ext cx="0" cy="0"/>
          <a:chOff x="0" y="0"/>
          <a:chExt cx="0" cy="0"/>
        </a:xfrm>
      </p:grpSpPr>
      <p:sp>
        <p:nvSpPr>
          <p:cNvPr name="TextBox 2" id="2"/>
          <p:cNvSpPr txBox="true"/>
          <p:nvPr/>
        </p:nvSpPr>
        <p:spPr>
          <a:xfrm rot="0">
            <a:off x="1028700" y="620947"/>
            <a:ext cx="4060602" cy="404448"/>
          </a:xfrm>
          <a:prstGeom prst="rect">
            <a:avLst/>
          </a:prstGeom>
        </p:spPr>
        <p:txBody>
          <a:bodyPr anchor="t" rtlCol="false" tIns="0" lIns="0" bIns="0" rIns="0">
            <a:spAutoFit/>
          </a:bodyPr>
          <a:lstStyle/>
          <a:p>
            <a:pPr algn="l">
              <a:lnSpc>
                <a:spcPts val="3432"/>
              </a:lnSpc>
              <a:spcBef>
                <a:spcPct val="0"/>
              </a:spcBef>
            </a:pPr>
            <a:r>
              <a:rPr lang="en-US" sz="2451">
                <a:solidFill>
                  <a:srgbClr val="20562E"/>
                </a:solidFill>
                <a:latin typeface="Canva Sans"/>
                <a:ea typeface="Canva Sans"/>
                <a:cs typeface="Canva Sans"/>
                <a:sym typeface="Canva Sans"/>
              </a:rPr>
              <a:t>SRM</a:t>
            </a:r>
            <a:r>
              <a:rPr lang="en-US" sz="2451">
                <a:solidFill>
                  <a:srgbClr val="20562E"/>
                </a:solidFill>
                <a:latin typeface="Canva Sans"/>
                <a:ea typeface="Canva Sans"/>
                <a:cs typeface="Canva Sans"/>
                <a:sym typeface="Canva Sans"/>
              </a:rPr>
              <a:t> Universit</a:t>
            </a:r>
            <a:r>
              <a:rPr lang="en-US" sz="2451">
                <a:solidFill>
                  <a:srgbClr val="20562E"/>
                </a:solidFill>
                <a:latin typeface="Canva Sans"/>
                <a:ea typeface="Canva Sans"/>
                <a:cs typeface="Canva Sans"/>
                <a:sym typeface="Canva Sans"/>
              </a:rPr>
              <a:t>y</a:t>
            </a:r>
          </a:p>
        </p:txBody>
      </p:sp>
      <p:sp>
        <p:nvSpPr>
          <p:cNvPr name="TextBox 3" id="3"/>
          <p:cNvSpPr txBox="true"/>
          <p:nvPr/>
        </p:nvSpPr>
        <p:spPr>
          <a:xfrm rot="0">
            <a:off x="16124778" y="620947"/>
            <a:ext cx="1134522" cy="404448"/>
          </a:xfrm>
          <a:prstGeom prst="rect">
            <a:avLst/>
          </a:prstGeom>
        </p:spPr>
        <p:txBody>
          <a:bodyPr anchor="t" rtlCol="false" tIns="0" lIns="0" bIns="0" rIns="0">
            <a:spAutoFit/>
          </a:bodyPr>
          <a:lstStyle/>
          <a:p>
            <a:pPr algn="r">
              <a:lnSpc>
                <a:spcPts val="3432"/>
              </a:lnSpc>
              <a:spcBef>
                <a:spcPct val="0"/>
              </a:spcBef>
            </a:pPr>
            <a:r>
              <a:rPr lang="en-US" sz="2451">
                <a:solidFill>
                  <a:srgbClr val="20562E"/>
                </a:solidFill>
                <a:latin typeface="Canva Sans"/>
                <a:ea typeface="Canva Sans"/>
                <a:cs typeface="Canva Sans"/>
                <a:sym typeface="Canva Sans"/>
              </a:rPr>
              <a:t>09/02</a:t>
            </a:r>
          </a:p>
        </p:txBody>
      </p:sp>
      <p:sp>
        <p:nvSpPr>
          <p:cNvPr name="TextBox 4" id="4"/>
          <p:cNvSpPr txBox="true"/>
          <p:nvPr/>
        </p:nvSpPr>
        <p:spPr>
          <a:xfrm rot="0">
            <a:off x="14339586" y="9037026"/>
            <a:ext cx="2919714" cy="404448"/>
          </a:xfrm>
          <a:prstGeom prst="rect">
            <a:avLst/>
          </a:prstGeom>
        </p:spPr>
        <p:txBody>
          <a:bodyPr anchor="t" rtlCol="false" tIns="0" lIns="0" bIns="0" rIns="0">
            <a:spAutoFit/>
          </a:bodyPr>
          <a:lstStyle/>
          <a:p>
            <a:pPr algn="r">
              <a:lnSpc>
                <a:spcPts val="3432"/>
              </a:lnSpc>
              <a:spcBef>
                <a:spcPct val="0"/>
              </a:spcBef>
            </a:pPr>
            <a:r>
              <a:rPr lang="en-US" sz="2451">
                <a:solidFill>
                  <a:srgbClr val="20562E"/>
                </a:solidFill>
                <a:latin typeface="Canva Sans"/>
                <a:ea typeface="Canva Sans"/>
                <a:cs typeface="Canva Sans"/>
                <a:sym typeface="Canva Sans"/>
              </a:rPr>
              <a:t>February</a:t>
            </a:r>
          </a:p>
        </p:txBody>
      </p:sp>
      <p:sp>
        <p:nvSpPr>
          <p:cNvPr name="AutoShape 5" id="5"/>
          <p:cNvSpPr/>
          <p:nvPr/>
        </p:nvSpPr>
        <p:spPr>
          <a:xfrm>
            <a:off x="4219692" y="842221"/>
            <a:ext cx="11987559" cy="0"/>
          </a:xfrm>
          <a:prstGeom prst="line">
            <a:avLst/>
          </a:prstGeom>
          <a:ln cap="flat" w="38100">
            <a:solidFill>
              <a:srgbClr val="20562E"/>
            </a:solidFill>
            <a:prstDash val="solid"/>
            <a:headEnd type="none" len="sm" w="sm"/>
            <a:tailEnd type="none" len="sm" w="sm"/>
          </a:ln>
        </p:spPr>
      </p:sp>
      <p:sp>
        <p:nvSpPr>
          <p:cNvPr name="AutoShape 6" id="6"/>
          <p:cNvSpPr/>
          <p:nvPr/>
        </p:nvSpPr>
        <p:spPr>
          <a:xfrm>
            <a:off x="2059204" y="9258300"/>
            <a:ext cx="13328797" cy="0"/>
          </a:xfrm>
          <a:prstGeom prst="line">
            <a:avLst/>
          </a:prstGeom>
          <a:ln cap="flat" w="38100">
            <a:solidFill>
              <a:srgbClr val="20562E"/>
            </a:solidFill>
            <a:prstDash val="solid"/>
            <a:headEnd type="none" len="sm" w="sm"/>
            <a:tailEnd type="none" len="sm" w="sm"/>
          </a:ln>
        </p:spPr>
      </p:sp>
      <p:sp>
        <p:nvSpPr>
          <p:cNvPr name="TextBox 7" id="7"/>
          <p:cNvSpPr txBox="true"/>
          <p:nvPr/>
        </p:nvSpPr>
        <p:spPr>
          <a:xfrm rot="0">
            <a:off x="5584798" y="2339195"/>
            <a:ext cx="7118404" cy="3235955"/>
          </a:xfrm>
          <a:prstGeom prst="rect">
            <a:avLst/>
          </a:prstGeom>
        </p:spPr>
        <p:txBody>
          <a:bodyPr anchor="t" rtlCol="false" tIns="0" lIns="0" bIns="0" rIns="0">
            <a:spAutoFit/>
          </a:bodyPr>
          <a:lstStyle/>
          <a:p>
            <a:pPr algn="ctr">
              <a:lnSpc>
                <a:spcPts val="26315"/>
              </a:lnSpc>
              <a:spcBef>
                <a:spcPct val="0"/>
              </a:spcBef>
            </a:pPr>
            <a:r>
              <a:rPr lang="en-US" b="true" sz="18796">
                <a:solidFill>
                  <a:srgbClr val="20562E"/>
                </a:solidFill>
                <a:latin typeface="Bricolage Grotesque Bold"/>
                <a:ea typeface="Bricolage Grotesque Bold"/>
                <a:cs typeface="Bricolage Grotesque Bold"/>
                <a:sym typeface="Bricolage Grotesque Bold"/>
              </a:rPr>
              <a:t>Thank</a:t>
            </a:r>
          </a:p>
        </p:txBody>
      </p:sp>
      <p:sp>
        <p:nvSpPr>
          <p:cNvPr name="Freeform 8" id="8"/>
          <p:cNvSpPr/>
          <p:nvPr/>
        </p:nvSpPr>
        <p:spPr>
          <a:xfrm flipH="false" flipV="false" rot="0">
            <a:off x="1028700" y="4487798"/>
            <a:ext cx="2219301" cy="1311405"/>
          </a:xfrm>
          <a:custGeom>
            <a:avLst/>
            <a:gdLst/>
            <a:ahLst/>
            <a:cxnLst/>
            <a:rect r="r" b="b" t="t" l="l"/>
            <a:pathLst>
              <a:path h="1311405" w="2219301">
                <a:moveTo>
                  <a:pt x="0" y="0"/>
                </a:moveTo>
                <a:lnTo>
                  <a:pt x="2219301" y="0"/>
                </a:lnTo>
                <a:lnTo>
                  <a:pt x="2219301" y="1311404"/>
                </a:lnTo>
                <a:lnTo>
                  <a:pt x="0" y="1311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9037026"/>
            <a:ext cx="1030504" cy="404448"/>
          </a:xfrm>
          <a:prstGeom prst="rect">
            <a:avLst/>
          </a:prstGeom>
        </p:spPr>
        <p:txBody>
          <a:bodyPr anchor="t" rtlCol="false" tIns="0" lIns="0" bIns="0" rIns="0">
            <a:spAutoFit/>
          </a:bodyPr>
          <a:lstStyle/>
          <a:p>
            <a:pPr algn="l">
              <a:lnSpc>
                <a:spcPts val="3432"/>
              </a:lnSpc>
              <a:spcBef>
                <a:spcPct val="0"/>
              </a:spcBef>
            </a:pPr>
            <a:r>
              <a:rPr lang="en-US" sz="2451">
                <a:solidFill>
                  <a:srgbClr val="20562E"/>
                </a:solidFill>
                <a:latin typeface="Canva Sans"/>
                <a:ea typeface="Canva Sans"/>
                <a:cs typeface="Canva Sans"/>
                <a:sym typeface="Canva Sans"/>
              </a:rPr>
              <a:t>2026</a:t>
            </a:r>
          </a:p>
        </p:txBody>
      </p:sp>
      <p:sp>
        <p:nvSpPr>
          <p:cNvPr name="TextBox 10" id="10"/>
          <p:cNvSpPr txBox="true"/>
          <p:nvPr/>
        </p:nvSpPr>
        <p:spPr>
          <a:xfrm rot="0">
            <a:off x="8265557" y="4340376"/>
            <a:ext cx="4437645" cy="3235955"/>
          </a:xfrm>
          <a:prstGeom prst="rect">
            <a:avLst/>
          </a:prstGeom>
        </p:spPr>
        <p:txBody>
          <a:bodyPr anchor="t" rtlCol="false" tIns="0" lIns="0" bIns="0" rIns="0">
            <a:spAutoFit/>
          </a:bodyPr>
          <a:lstStyle/>
          <a:p>
            <a:pPr algn="ctr">
              <a:lnSpc>
                <a:spcPts val="26315"/>
              </a:lnSpc>
              <a:spcBef>
                <a:spcPct val="0"/>
              </a:spcBef>
            </a:pPr>
            <a:r>
              <a:rPr lang="en-US" b="true" sz="18796">
                <a:solidFill>
                  <a:srgbClr val="20562E"/>
                </a:solidFill>
                <a:latin typeface="Bricolage Grotesque Bold"/>
                <a:ea typeface="Bricolage Grotesque Bold"/>
                <a:cs typeface="Bricolage Grotesque Bold"/>
                <a:sym typeface="Bricolage Grotesque Bold"/>
              </a:rPr>
              <a:t>You</a:t>
            </a:r>
          </a:p>
        </p:txBody>
      </p:sp>
      <p:sp>
        <p:nvSpPr>
          <p:cNvPr name="Freeform 11" id="11"/>
          <p:cNvSpPr/>
          <p:nvPr/>
        </p:nvSpPr>
        <p:spPr>
          <a:xfrm flipH="false" flipV="false" rot="0">
            <a:off x="15097601" y="4487798"/>
            <a:ext cx="2219301" cy="1311405"/>
          </a:xfrm>
          <a:custGeom>
            <a:avLst/>
            <a:gdLst/>
            <a:ahLst/>
            <a:cxnLst/>
            <a:rect r="r" b="b" t="t" l="l"/>
            <a:pathLst>
              <a:path h="1311405" w="2219301">
                <a:moveTo>
                  <a:pt x="0" y="0"/>
                </a:moveTo>
                <a:lnTo>
                  <a:pt x="2219301" y="0"/>
                </a:lnTo>
                <a:lnTo>
                  <a:pt x="2219301" y="1311404"/>
                </a:lnTo>
                <a:lnTo>
                  <a:pt x="0" y="13114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DAHAoLj1Qwo</dc:identifier>
  <dcterms:modified xsi:type="dcterms:W3CDTF">2011-08-01T06:04:30Z</dcterms:modified>
  <cp:revision>1</cp:revision>
  <dc:title>Green Simple Thesis Defense Presentation</dc:title>
</cp:coreProperties>
</file>